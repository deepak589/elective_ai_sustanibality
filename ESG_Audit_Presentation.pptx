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640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 AI-Based ESG Scores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Can You Trust a Machine-Generated Sustainability Score?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182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C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Power &amp; Responsibility — Governing Intelligent Systems for Sustainability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Deepak [Last Name]  ·  University of Europe for Applied Sciences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Audit AI-Based ESG Scores?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now produce the ESG scores that govern pension-fund weightings, green-bond eligibility, and lending decisions — yet almost none of the scoring infrastructure is open to inspection.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206240" cy="164592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80160"/>
            <a:ext cx="4206240" cy="22860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28016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Score Opacity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MSCI, Sustainalytics, Bloomberg, and Refinitiv rank the same firm differently — pairwise Spearman ρ as low as 0.38 across raters.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06240" cy="164592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4206240" cy="22860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28016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Greenwashing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firm can insert sustainability buzzwords into its disclosures and move an AI classifier from detected to undetected — no model access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063240"/>
            <a:ext cx="4206240" cy="164592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63240"/>
            <a:ext cx="4206240" cy="22860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306324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No Audit Trail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33756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architectures block independent verification. EU AI Act Arts. 9 &amp; 13 require audit capability the market does not currently provide.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206240" cy="164592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63240"/>
            <a:ext cx="4206240" cy="22860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06324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Structural Unfairness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systems may systematically disadvantage entire sectors regardless of actual sustainability performance.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Berg et al. (2022); EU AI Act (2024); this study.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public datasets. No proprietary access required. All code reproducible.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1828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8686800" cy="27432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1 — Public Company ESG Ratings (Sustainalytics / Yahoo Finance via Kaggle)  ✅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 firms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1755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risk sub-scores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(Env, Social, Gov, Controversy)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1755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Medium / High / Severe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1755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included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Used for: RQ1 (sub-score agreement) · RQ3 (surrogate audit) · RQ4 (fairness) · RQ5 (distribution shift)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8686800" cy="1828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926080"/>
            <a:ext cx="8686800" cy="27432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260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2 — S&amp;P 500 ESG Report Sentences (Kaggle)  ✅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675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sentences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reports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2,117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51760" y="3675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265 / Test 265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00600" y="3675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vs. Greenwash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3675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ESG disclosures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Used for: RQ2 (adversarial robustness)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Research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75488" cy="6583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685800"/>
            <a:ext cx="5303520" cy="658368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7223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Sub-Score Agreement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9966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 rater's own ESG sub-scores agree on which firm is better?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685800"/>
            <a:ext cx="2148840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68580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ρ = 0.12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93608" y="841248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8412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545336"/>
            <a:ext cx="475488" cy="6583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54533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1545336"/>
            <a:ext cx="5303520" cy="658368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5819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Robustness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adversarial or greenwashing text fool an ESG classifier?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99048" y="1545336"/>
            <a:ext cx="2148840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4533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0.72 → 0.53 (↓27%)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93608" y="1700784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7007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404872"/>
            <a:ext cx="475488" cy="6583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40487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2404872"/>
            <a:ext cx="5303520" cy="658368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2441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2715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closed model be audited without handing over its weights?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9048" y="2404872"/>
            <a:ext cx="2148840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40487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surrogate accuracy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93608" y="256032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2560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264408"/>
            <a:ext cx="475488" cy="6583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2644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" y="3264408"/>
            <a:ext cx="5303520" cy="658368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33009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Fairness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3575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scores quietly penalise some sectors or firm sizes?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99048" y="3264408"/>
            <a:ext cx="2148840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264408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≈ 0.05 (Energy/Utilities)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93608" y="3419856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3608" y="3419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4123944"/>
            <a:ext cx="475488" cy="65836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12394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" y="4123944"/>
            <a:ext cx="5303520" cy="658368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1605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Shift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1248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model still work when the kind of firm it sees changes?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99048" y="4123944"/>
            <a:ext cx="2148840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4123944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 (Fin. Svcs / Real Estate)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93608" y="4279392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608" y="42793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RQ3 surrogate accuracy is real; ZK proof-generation times are literature stubs from Kang et al. (2023) and Liu et al. (2023).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— Do a rater's own sub-scores agree on which firm is better?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100584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0.12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Spearman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6 pairs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↔ 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(strongest conflict)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9202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↔ Controversy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(strongest link)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68580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 firms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83080"/>
            <a:ext cx="5029200" cy="2971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94960" y="1783080"/>
            <a:ext cx="3566160" cy="2971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1783080"/>
            <a:ext cx="356616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68112" y="178308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0" y="21214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four sub-scores are near-orthogonal — a firm can rank well on Environment but poorly on Governance.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0" y="26243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ρ = 0.12 is far below what would justify collapsing all four into a single number.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31272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composite 'Total ESG Risk' headline score hides real internal disagreement.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0" y="36301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Env–Governance opposition (ρ = −0.28) is the most actionable: firms can game one dimension at the expense of the other.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0" y="413308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Implication: a single ESG score cannot be taken at face value without inspecting its components.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Sustainalytics/Yahoo Finance ESG Ratings, 503 S&amp;P 500 firms. Method: Spearman ρ matrix across Environment, Social, Governance, Controversy sub-scores.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— Can greenwashing text fool an ESG classifier?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100584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(TF-IDF + LR)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greenwash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920240" cy="1005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drop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(largest attack)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68580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Synonym-swap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(negligible change)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83080"/>
            <a:ext cx="4937760" cy="2971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0" y="1783080"/>
            <a:ext cx="3657600" cy="2971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1783080"/>
            <a:ext cx="365760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17830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21031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Greenwash injection (inserting sustainability buzzwords) is the cheapest and most damaging attack — no model access required.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260604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Synonym-swapping barely changes performance (0.72→0.73), so lexical variation is not the real threat.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0680" y="31089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Character-level typo noise drops F1 to 0.66 — noticeable but not catastrophic.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greenwash attack is semantically targeted: it mimics real corporate disclosure behaviour, not random noise.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40680" y="4114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Implication: any AI screener for greenwashing is gameable by motivated actors using off-the-shelf tactics.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S&amp;P 500 ESG Report Sentences (ACL 2025 A3CG benchmark, n=265 test). Model: TF-IDF + Logistic Regression, trained on 2,117 sentences.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— Can a closed model be audited without handing over its weights?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100584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(REAL)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68580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inputs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sub-scores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9202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ZK-ready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9 / 13 path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(lit.)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83080"/>
            <a:ext cx="4937760" cy="2971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0" y="1783080"/>
            <a:ext cx="3657600" cy="2971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1783080"/>
            <a:ext cx="365760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17830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21031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Random Forest trained on 4 public sub-scores reproduces the vendor's risk-level labels at 88% accuracy.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260604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shows the vendor model contains little additional information beyond its own published outputs.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0680" y="31089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 88%-accurate surrogate is sufficient to serve as the 'prover' in a ZK compliance circuit — no weight disclosure needed.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ZK proof times from the literature range from 0.3s (Bulletproofs) to 8.7s (STARK). Surrogate-RF inference is negligible.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40680" y="4114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Bloomberg AI and MSCI Proxy: Non-Compliant — closed-source with no audit pathway.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accuracy: REAL (rq3.csv, 503 firms, Random Forest). Proof times: literature stubs [Kang et al. 2023; Liu et al. 2023]. Not measured in this study.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 — Do scores quietly penalise some sectors or firm sizes?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Utilities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ratio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685800"/>
            <a:ext cx="1920240" cy="10058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4/5ths rule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92024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Sectoral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Unfairness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size-based)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68580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ratio (best)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83080"/>
            <a:ext cx="4937760" cy="2971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0" y="1783080"/>
            <a:ext cx="3657600" cy="2971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1783080"/>
            <a:ext cx="365760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17830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21031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and Utilities firms almost never receive a Low ESG risk classification — DI ratio ≈ 0.05 vs. 0.8 threshold.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260604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of 11 sectors breach the 4/5ths disparate-impact threshold relative to Real Estate.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0680" y="31089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Critical distinction: splitting by firm headcount shows NO disparate impact by size.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Unfairness is entirely sectoral — small and large firms within the same sector fare equally.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40680" y="4114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Implication: sector-level score recalibration, not a size correction, is what regulatory remediation requires.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Sustainalytics ESG Ratings, 503 firms. Method: 4/5ths disparate-impact rule, separately by GICS sector and headcount quartile.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 — Does a model still work when the kind of firm it sees changes?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In-distribution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Svcs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(held out)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685800"/>
            <a:ext cx="192024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(held out)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685800"/>
            <a:ext cx="1920240" cy="100584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31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0.95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Comms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(held out)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83080"/>
            <a:ext cx="4937760" cy="2971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0" y="1783080"/>
            <a:ext cx="3657600" cy="2971800"/>
          </a:xfrm>
          <a:prstGeom prst="rect">
            <a:avLst/>
          </a:prstGeom>
          <a:solidFill>
            <a:srgbClr val="F9FB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1783080"/>
            <a:ext cx="3657600" cy="256032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178308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40680" y="21031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Leave-one-sector-out CV proxies for the distribution shift that temporal change (new regulation, sector rotation) would introduce.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260604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transfers well to Technology, Comms, Energy — these sectors share feature patterns with the rest.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40680" y="31089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Services and Real Estate: complete F1 collapse to zero when held out.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40680" y="361188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Healthcare borderline (F1 ≈ 0.40). Basic Materials and Consumer Cyclical below the in-distribution baseline.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40680" y="411480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Implication: a model with good average performance can be completely blind on specific sector types.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Sustainalytics ESG Ratings, 503 firms. Method: leave-one-sector-out CV, elevated-risk detection (High+Severe), Random Forest classifier.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What the Results Collectively Imply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749808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91440" cy="74980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223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composite score is not a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0149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0.12 means the four sub-scores are near-orthogonal. Collapsing them into a headline number destroys actionable information (RQ1).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545336"/>
            <a:ext cx="8686800" cy="749808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545336"/>
            <a:ext cx="91440" cy="74980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81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Greenwashing is a solved attack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adversarial move — buzzword insertion — causes the biggest damage. Any AI ESG screener is gameable without model access (RQ2).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04872"/>
            <a:ext cx="8686800" cy="749808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404872"/>
            <a:ext cx="91440" cy="74980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41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≠ unauditable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7340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surrogate fidelity from public sub-scores enables ZK-proof compliance verification. The audit gap is legal, not technical (RQ3).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264408"/>
            <a:ext cx="8686800" cy="749808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264408"/>
            <a:ext cx="91440" cy="74980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0098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Unfairness is sectoral, not size-based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593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Remediating Energy/Utilities disparity requires sector-level recalibration, not firm-size adjustments. This is a design choice, not noise (RQ4).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123944"/>
            <a:ext cx="8686800" cy="749808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23944"/>
            <a:ext cx="91440" cy="74980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accuracy hides sector blindness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453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 for Fin. Services and Real Estate held out. Standard benchmark reporting would not detect this (RQ5).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results. Two public datasets. No proprietary access.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463040" cy="56692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0.12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26187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Sub-scores barely agree — a single ESG number obscures near-orthogonal signals (RQ1)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1463040" cy="56692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385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0.72 → 0.53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drop from trivial buzzword injection. Greenwashing breaks the classifier (RQ2)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1463040" cy="56692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883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surrogate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27614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risk levels reproduced from public sub-scores → ZK audit is feasible now (RQ3)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438144"/>
            <a:ext cx="1463040" cy="56692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381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≈ 0.05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51129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Utilities systematically excluded from Low-risk band. Unfairness is sectoral (RQ4)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187952"/>
            <a:ext cx="1463040" cy="566928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879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20240" y="426110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completely blind on Fin. Svcs &amp; Real Estate when held out. Average hides breakdown (RQ5)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scores like these steer real capital, they need the same routine auditing expected of any high-stakes model.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E3A"/>
          </a:solidFill>
          <a:ln w="12700">
            <a:solidFill>
              <a:srgbClr val="1A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686800" cy="438912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F. Berg, J. F. Kölbel, R. Rigobon. `Aggregate Confusion: The Divergence of ESG Ratings.` Review of Finance, 26(6), 2022.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33856"/>
            <a:ext cx="8686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J. X. Morris et al. `TextAttack: A Framework for Adversarial Attacks in NLP.` EMNLP 2020.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609344"/>
            <a:ext cx="8686800" cy="438912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9344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[Authors]. `A3CG: Greenwashing Detection Benchmark.` ACL 2025 (forthcoming).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084832"/>
            <a:ext cx="8686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8483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D. Kang, T. Hashimoto, I. Stoica, D. Song. `Scaling up Trustless DNN Inference with ZKPs.` ICLR 2023 Workshop.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60320"/>
            <a:ext cx="8686800" cy="438912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6032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Y. Liu, L. Guo, H. Chen. `zkML: Privacy-Preserving ML Auditing for Financial Models.` arXiv:2312.09543.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035808"/>
            <a:ext cx="8686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358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M. Feldman et al. `Certifying and Removing Disparate Impact.` KDD 2015.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511296"/>
            <a:ext cx="8686800" cy="438912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112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S. Kotsantonis, G. Serafeim. `4 Things No One Will Tell You About ESG Data.` J. Applied Corporate Finance, 2019.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986784"/>
            <a:ext cx="8686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86784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J. Gama et al. `A Survey on Concept Drift Adaptation.` ACM Computing Surveys, 2014.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462272"/>
            <a:ext cx="8686800" cy="438912"/>
          </a:xfrm>
          <a:prstGeom prst="rect">
            <a:avLst/>
          </a:prstGeom>
          <a:solidFill>
            <a:srgbClr val="F9FBF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4622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European Parliament. `Regulation (EU) 2024/1689 -- AI Act.` Official Journal of the EU, 2024.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Auditing AI-Based ESG Scores</dc:title>
  <dc:subject>PptxGenJS Presentation</dc:subject>
  <dc:creator>Deepak</dc:creator>
  <cp:lastModifiedBy>Deepak</cp:lastModifiedBy>
  <cp:revision>1</cp:revision>
  <dcterms:created xsi:type="dcterms:W3CDTF">2026-06-29T22:08:28Z</dcterms:created>
  <dcterms:modified xsi:type="dcterms:W3CDTF">2026-06-29T22:08:28Z</dcterms:modified>
</cp:coreProperties>
</file>