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30267275" cy="427942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41D44A-76C6-4A28-B092-B250CC1110F7}" v="163" dt="2026-06-05T09:25:38.2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0266640" cy="42793920"/>
          </a:xfrm>
          <a:prstGeom prst="rect">
            <a:avLst/>
          </a:prstGeom>
          <a:solidFill>
            <a:srgbClr val="F6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0266640" cy="512064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4983480"/>
            <a:ext cx="30266640" cy="201168"/>
          </a:xfrm>
          <a:prstGeom prst="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88720" y="502920"/>
            <a:ext cx="22860000" cy="3291840"/>
          </a:xfrm>
          <a:prstGeom prst="rect">
            <a:avLst/>
          </a:prstGeom>
          <a:noFill/>
        </p:spPr>
        <p:txBody>
          <a:bodyPr wrap="square" lIns="0" tIns="0" rIns="0" bIns="0" anchor="t">
            <a:spAutoFit/>
          </a:bodyPr>
          <a:lstStyle/>
          <a:p>
            <a:pPr algn="l">
              <a:lnSpc>
                <a:spcPct val="102000"/>
              </a:lnSpc>
            </a:pPr>
            <a:r>
              <a:rPr sz="7800" b="1" i="0">
                <a:solidFill>
                  <a:srgbClr val="FFFFFF"/>
                </a:solidFill>
                <a:latin typeface="Calibri"/>
              </a:rPr>
              <a:t>Auditing AI-Based ESG Scores</a:t>
            </a:r>
          </a:p>
          <a:p>
            <a:pPr algn="l">
              <a:lnSpc>
                <a:spcPct val="102000"/>
              </a:lnSpc>
            </a:pPr>
            <a:r>
              <a:rPr sz="3800" b="0" i="1">
                <a:solidFill>
                  <a:srgbClr val="97BC62"/>
                </a:solidFill>
                <a:latin typeface="Calibri"/>
              </a:rPr>
              <a:t>How much can you trust a machine-generated sustainability score?</a:t>
            </a:r>
          </a:p>
        </p:txBody>
      </p:sp>
      <p:sp>
        <p:nvSpPr>
          <p:cNvPr id="6" name="TextBox 5"/>
          <p:cNvSpPr txBox="1"/>
          <p:nvPr/>
        </p:nvSpPr>
        <p:spPr>
          <a:xfrm>
            <a:off x="1107262" y="3383280"/>
            <a:ext cx="23774400" cy="925894"/>
          </a:xfrm>
          <a:prstGeom prst="rect">
            <a:avLst/>
          </a:prstGeom>
          <a:noFill/>
        </p:spPr>
        <p:txBody>
          <a:bodyPr wrap="square" lIns="0" tIns="0" rIns="0" bIns="0" anchor="t">
            <a:spAutoFit/>
          </a:bodyPr>
          <a:lstStyle/>
          <a:p>
            <a:pPr algn="l">
              <a:lnSpc>
                <a:spcPct val="110000"/>
              </a:lnSpc>
            </a:pPr>
            <a:r>
              <a:rPr sz="3000" b="0" i="1">
                <a:solidFill>
                  <a:srgbClr val="CFE0C0"/>
                </a:solidFill>
                <a:latin typeface="Calibri"/>
              </a:rPr>
              <a:t>AI, Power &amp; Responsibility — Governing Intelligent Systems for Sustainability</a:t>
            </a:r>
          </a:p>
          <a:p>
            <a:pPr>
              <a:lnSpc>
                <a:spcPct val="110000"/>
              </a:lnSpc>
            </a:pPr>
            <a:r>
              <a:rPr sz="2600" b="0" i="0" dirty="0">
                <a:solidFill>
                  <a:srgbClr val="CFE0C0"/>
                </a:solidFill>
                <a:latin typeface="Calibri"/>
              </a:rPr>
              <a:t>Deepak · M.Sc. AI &amp; Sustainability · </a:t>
            </a:r>
            <a:r>
              <a:rPr lang="en-US" sz="2600" dirty="0">
                <a:solidFill>
                  <a:srgbClr val="CFE0C0"/>
                </a:solidFill>
                <a:latin typeface="Calibri"/>
              </a:rPr>
              <a:t>Business, University of Europe </a:t>
            </a:r>
            <a:r>
              <a:rPr lang="en-US" sz="2600">
                <a:solidFill>
                  <a:srgbClr val="CFE0C0"/>
                </a:solidFill>
                <a:latin typeface="Calibri"/>
              </a:rPr>
              <a:t>Applied Science </a:t>
            </a:r>
            <a:r>
              <a:rPr sz="2600" b="0" i="0" dirty="0">
                <a:solidFill>
                  <a:srgbClr val="CFE0C0"/>
                </a:solidFill>
                <a:latin typeface="Calibri"/>
              </a:rPr>
              <a:t>· </a:t>
            </a:r>
            <a:r>
              <a:rPr lang="en-US" sz="2600" dirty="0">
                <a:solidFill>
                  <a:srgbClr val="CFE0C0"/>
                </a:solidFill>
                <a:latin typeface="Calibri"/>
              </a:rPr>
              <a:t>deepakkatukuri@gmail.com</a:t>
            </a:r>
            <a:endParaRPr sz="2600" b="0" i="0" dirty="0">
              <a:solidFill>
                <a:srgbClr val="CFE0C0"/>
              </a:solidFill>
              <a:latin typeface="Calibri"/>
            </a:endParaRPr>
          </a:p>
        </p:txBody>
      </p:sp>
      <p:sp>
        <p:nvSpPr>
          <p:cNvPr id="9" name="TextBox 8"/>
          <p:cNvSpPr txBox="1"/>
          <p:nvPr/>
        </p:nvSpPr>
        <p:spPr>
          <a:xfrm>
            <a:off x="1188720" y="5486400"/>
            <a:ext cx="27889200" cy="731520"/>
          </a:xfrm>
          <a:prstGeom prst="rect">
            <a:avLst/>
          </a:prstGeom>
          <a:noFill/>
        </p:spPr>
        <p:txBody>
          <a:bodyPr wrap="square" lIns="0" tIns="0" rIns="0" bIns="0" anchor="t">
            <a:spAutoFit/>
          </a:bodyPr>
          <a:lstStyle/>
          <a:p>
            <a:pPr algn="l">
              <a:lnSpc>
                <a:spcPct val="105000"/>
              </a:lnSpc>
            </a:pPr>
            <a:r>
              <a:rPr sz="3000" b="1" i="0">
                <a:solidFill>
                  <a:srgbClr val="2C5F2D"/>
                </a:solidFill>
                <a:latin typeface="Calibri"/>
              </a:rPr>
              <a:t>METHODOLOGY WORKFLOW</a:t>
            </a:r>
          </a:p>
        </p:txBody>
      </p:sp>
      <p:sp>
        <p:nvSpPr>
          <p:cNvPr id="10" name="Right Arrow 9"/>
          <p:cNvSpPr/>
          <p:nvPr/>
        </p:nvSpPr>
        <p:spPr>
          <a:xfrm>
            <a:off x="4983480" y="7104887"/>
            <a:ext cx="3566159" cy="512064"/>
          </a:xfrm>
          <a:prstGeom prst="rightArrow">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108959" y="6492240"/>
            <a:ext cx="1737360" cy="1737360"/>
          </a:xfrm>
          <a:prstGeom prst="ellipse">
            <a:avLst/>
          </a:prstGeom>
          <a:solidFill>
            <a:srgbClr val="2C5F2D"/>
          </a:solidFill>
          <a:ln w="3810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108959" y="6492240"/>
            <a:ext cx="1737360" cy="1737360"/>
          </a:xfrm>
          <a:prstGeom prst="rect">
            <a:avLst/>
          </a:prstGeom>
          <a:noFill/>
        </p:spPr>
        <p:txBody>
          <a:bodyPr wrap="square" lIns="0" tIns="0" rIns="0" bIns="0" anchor="ctr">
            <a:spAutoFit/>
          </a:bodyPr>
          <a:lstStyle/>
          <a:p>
            <a:pPr algn="ctr">
              <a:lnSpc>
                <a:spcPct val="105000"/>
              </a:lnSpc>
            </a:pPr>
            <a:r>
              <a:rPr sz="4600" b="1" i="0">
                <a:solidFill>
                  <a:srgbClr val="FFFFFF"/>
                </a:solidFill>
                <a:latin typeface="Calibri"/>
              </a:rPr>
              <a:t>1</a:t>
            </a:r>
          </a:p>
        </p:txBody>
      </p:sp>
      <p:sp>
        <p:nvSpPr>
          <p:cNvPr id="13" name="TextBox 12"/>
          <p:cNvSpPr txBox="1"/>
          <p:nvPr/>
        </p:nvSpPr>
        <p:spPr>
          <a:xfrm>
            <a:off x="1188719" y="8366760"/>
            <a:ext cx="5577840" cy="1097280"/>
          </a:xfrm>
          <a:prstGeom prst="rect">
            <a:avLst/>
          </a:prstGeom>
          <a:noFill/>
        </p:spPr>
        <p:txBody>
          <a:bodyPr wrap="square" lIns="0" tIns="0" rIns="0" bIns="0" anchor="t">
            <a:spAutoFit/>
          </a:bodyPr>
          <a:lstStyle/>
          <a:p>
            <a:pPr algn="ctr">
              <a:lnSpc>
                <a:spcPct val="100000"/>
              </a:lnSpc>
            </a:pPr>
            <a:r>
              <a:rPr sz="2400" b="1" i="0">
                <a:solidFill>
                  <a:srgbClr val="222A22"/>
                </a:solidFill>
                <a:latin typeface="Calibri"/>
              </a:rPr>
              <a:t>Data</a:t>
            </a:r>
          </a:p>
          <a:p>
            <a:pPr algn="ctr">
              <a:lnSpc>
                <a:spcPct val="100000"/>
              </a:lnSpc>
            </a:pPr>
            <a:r>
              <a:rPr sz="2400" b="1" i="0">
                <a:solidFill>
                  <a:srgbClr val="222A22"/>
                </a:solidFill>
                <a:latin typeface="Calibri"/>
              </a:rPr>
              <a:t>Collection</a:t>
            </a:r>
          </a:p>
        </p:txBody>
      </p:sp>
      <p:sp>
        <p:nvSpPr>
          <p:cNvPr id="14" name="Right Arrow 13"/>
          <p:cNvSpPr/>
          <p:nvPr/>
        </p:nvSpPr>
        <p:spPr>
          <a:xfrm>
            <a:off x="10561319" y="7104887"/>
            <a:ext cx="3566159" cy="512064"/>
          </a:xfrm>
          <a:prstGeom prst="rightArrow">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686800" y="6492240"/>
            <a:ext cx="1737360" cy="1737360"/>
          </a:xfrm>
          <a:prstGeom prst="ellipse">
            <a:avLst/>
          </a:prstGeom>
          <a:solidFill>
            <a:srgbClr val="2C5F2D"/>
          </a:solidFill>
          <a:ln w="3810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0" y="6492240"/>
            <a:ext cx="1737360" cy="1737360"/>
          </a:xfrm>
          <a:prstGeom prst="rect">
            <a:avLst/>
          </a:prstGeom>
          <a:noFill/>
        </p:spPr>
        <p:txBody>
          <a:bodyPr wrap="square" lIns="0" tIns="0" rIns="0" bIns="0" anchor="ctr">
            <a:spAutoFit/>
          </a:bodyPr>
          <a:lstStyle/>
          <a:p>
            <a:pPr algn="ctr">
              <a:lnSpc>
                <a:spcPct val="105000"/>
              </a:lnSpc>
            </a:pPr>
            <a:r>
              <a:rPr sz="4600" b="1" i="0">
                <a:solidFill>
                  <a:srgbClr val="FFFFFF"/>
                </a:solidFill>
                <a:latin typeface="Calibri"/>
              </a:rPr>
              <a:t>2</a:t>
            </a:r>
          </a:p>
        </p:txBody>
      </p:sp>
      <p:sp>
        <p:nvSpPr>
          <p:cNvPr id="17" name="TextBox 16"/>
          <p:cNvSpPr txBox="1"/>
          <p:nvPr/>
        </p:nvSpPr>
        <p:spPr>
          <a:xfrm>
            <a:off x="6766559" y="8366760"/>
            <a:ext cx="5577840" cy="1097280"/>
          </a:xfrm>
          <a:prstGeom prst="rect">
            <a:avLst/>
          </a:prstGeom>
          <a:noFill/>
        </p:spPr>
        <p:txBody>
          <a:bodyPr wrap="square" lIns="0" tIns="0" rIns="0" bIns="0" anchor="t">
            <a:spAutoFit/>
          </a:bodyPr>
          <a:lstStyle/>
          <a:p>
            <a:pPr algn="ctr">
              <a:lnSpc>
                <a:spcPct val="100000"/>
              </a:lnSpc>
            </a:pPr>
            <a:r>
              <a:rPr sz="2400" b="1" i="0">
                <a:solidFill>
                  <a:srgbClr val="222A22"/>
                </a:solidFill>
                <a:latin typeface="Calibri"/>
              </a:rPr>
              <a:t>Pre-</a:t>
            </a:r>
          </a:p>
          <a:p>
            <a:pPr algn="ctr">
              <a:lnSpc>
                <a:spcPct val="100000"/>
              </a:lnSpc>
            </a:pPr>
            <a:r>
              <a:rPr sz="2400" b="1" i="0">
                <a:solidFill>
                  <a:srgbClr val="222A22"/>
                </a:solidFill>
                <a:latin typeface="Calibri"/>
              </a:rPr>
              <a:t>processing</a:t>
            </a:r>
          </a:p>
        </p:txBody>
      </p:sp>
      <p:sp>
        <p:nvSpPr>
          <p:cNvPr id="18" name="Right Arrow 17"/>
          <p:cNvSpPr/>
          <p:nvPr/>
        </p:nvSpPr>
        <p:spPr>
          <a:xfrm>
            <a:off x="16139159" y="7104887"/>
            <a:ext cx="3566159" cy="512064"/>
          </a:xfrm>
          <a:prstGeom prst="rightArrow">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4264640" y="6492240"/>
            <a:ext cx="1737360" cy="1737360"/>
          </a:xfrm>
          <a:prstGeom prst="ellipse">
            <a:avLst/>
          </a:prstGeom>
          <a:solidFill>
            <a:srgbClr val="2C5F2D"/>
          </a:solidFill>
          <a:ln w="3810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4264640" y="6492240"/>
            <a:ext cx="1737360" cy="1737360"/>
          </a:xfrm>
          <a:prstGeom prst="rect">
            <a:avLst/>
          </a:prstGeom>
          <a:noFill/>
        </p:spPr>
        <p:txBody>
          <a:bodyPr wrap="square" lIns="0" tIns="0" rIns="0" bIns="0" anchor="ctr">
            <a:spAutoFit/>
          </a:bodyPr>
          <a:lstStyle/>
          <a:p>
            <a:pPr algn="ctr">
              <a:lnSpc>
                <a:spcPct val="105000"/>
              </a:lnSpc>
            </a:pPr>
            <a:r>
              <a:rPr sz="4600" b="1" i="0">
                <a:solidFill>
                  <a:srgbClr val="FFFFFF"/>
                </a:solidFill>
                <a:latin typeface="Calibri"/>
              </a:rPr>
              <a:t>3</a:t>
            </a:r>
          </a:p>
        </p:txBody>
      </p:sp>
      <p:sp>
        <p:nvSpPr>
          <p:cNvPr id="21" name="TextBox 20"/>
          <p:cNvSpPr txBox="1"/>
          <p:nvPr/>
        </p:nvSpPr>
        <p:spPr>
          <a:xfrm>
            <a:off x="12344400" y="8366760"/>
            <a:ext cx="5577840" cy="1097280"/>
          </a:xfrm>
          <a:prstGeom prst="rect">
            <a:avLst/>
          </a:prstGeom>
          <a:noFill/>
        </p:spPr>
        <p:txBody>
          <a:bodyPr wrap="square" lIns="0" tIns="0" rIns="0" bIns="0" anchor="t">
            <a:spAutoFit/>
          </a:bodyPr>
          <a:lstStyle/>
          <a:p>
            <a:pPr algn="ctr">
              <a:lnSpc>
                <a:spcPct val="100000"/>
              </a:lnSpc>
            </a:pPr>
            <a:r>
              <a:rPr sz="2400" b="1" i="0">
                <a:solidFill>
                  <a:srgbClr val="222A22"/>
                </a:solidFill>
                <a:latin typeface="Calibri"/>
              </a:rPr>
              <a:t>Model</a:t>
            </a:r>
          </a:p>
          <a:p>
            <a:pPr algn="ctr">
              <a:lnSpc>
                <a:spcPct val="100000"/>
              </a:lnSpc>
            </a:pPr>
            <a:r>
              <a:rPr sz="2400" b="1" i="0">
                <a:solidFill>
                  <a:srgbClr val="222A22"/>
                </a:solidFill>
                <a:latin typeface="Calibri"/>
              </a:rPr>
              <a:t>Training</a:t>
            </a:r>
          </a:p>
        </p:txBody>
      </p:sp>
      <p:sp>
        <p:nvSpPr>
          <p:cNvPr id="22" name="Right Arrow 21"/>
          <p:cNvSpPr/>
          <p:nvPr/>
        </p:nvSpPr>
        <p:spPr>
          <a:xfrm>
            <a:off x="21716999" y="7104887"/>
            <a:ext cx="3566159" cy="512064"/>
          </a:xfrm>
          <a:prstGeom prst="rightArrow">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9842480" y="6492240"/>
            <a:ext cx="1737360" cy="1737360"/>
          </a:xfrm>
          <a:prstGeom prst="ellipse">
            <a:avLst/>
          </a:prstGeom>
          <a:solidFill>
            <a:srgbClr val="2C5F2D"/>
          </a:solidFill>
          <a:ln w="3810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9842480" y="6492240"/>
            <a:ext cx="1737360" cy="1737360"/>
          </a:xfrm>
          <a:prstGeom prst="rect">
            <a:avLst/>
          </a:prstGeom>
          <a:noFill/>
        </p:spPr>
        <p:txBody>
          <a:bodyPr wrap="square" lIns="0" tIns="0" rIns="0" bIns="0" anchor="ctr">
            <a:spAutoFit/>
          </a:bodyPr>
          <a:lstStyle/>
          <a:p>
            <a:pPr algn="ctr">
              <a:lnSpc>
                <a:spcPct val="105000"/>
              </a:lnSpc>
            </a:pPr>
            <a:r>
              <a:rPr sz="4600" b="1" i="0">
                <a:solidFill>
                  <a:srgbClr val="FFFFFF"/>
                </a:solidFill>
                <a:latin typeface="Calibri"/>
              </a:rPr>
              <a:t>4</a:t>
            </a:r>
          </a:p>
        </p:txBody>
      </p:sp>
      <p:sp>
        <p:nvSpPr>
          <p:cNvPr id="25" name="TextBox 24"/>
          <p:cNvSpPr txBox="1"/>
          <p:nvPr/>
        </p:nvSpPr>
        <p:spPr>
          <a:xfrm>
            <a:off x="17922239" y="8366760"/>
            <a:ext cx="5577840" cy="1097280"/>
          </a:xfrm>
          <a:prstGeom prst="rect">
            <a:avLst/>
          </a:prstGeom>
          <a:noFill/>
        </p:spPr>
        <p:txBody>
          <a:bodyPr wrap="square" lIns="0" tIns="0" rIns="0" bIns="0" anchor="t">
            <a:spAutoFit/>
          </a:bodyPr>
          <a:lstStyle/>
          <a:p>
            <a:pPr algn="ctr">
              <a:lnSpc>
                <a:spcPct val="100000"/>
              </a:lnSpc>
            </a:pPr>
            <a:r>
              <a:rPr sz="2400" b="1" i="0">
                <a:solidFill>
                  <a:srgbClr val="222A22"/>
                </a:solidFill>
                <a:latin typeface="Calibri"/>
              </a:rPr>
              <a:t>Evaluation &amp;</a:t>
            </a:r>
          </a:p>
          <a:p>
            <a:pPr algn="ctr">
              <a:lnSpc>
                <a:spcPct val="100000"/>
              </a:lnSpc>
            </a:pPr>
            <a:r>
              <a:rPr sz="2400" b="1" i="0">
                <a:solidFill>
                  <a:srgbClr val="222A22"/>
                </a:solidFill>
                <a:latin typeface="Calibri"/>
              </a:rPr>
              <a:t>Audit (RQ1–RQ5)</a:t>
            </a:r>
          </a:p>
        </p:txBody>
      </p:sp>
      <p:sp>
        <p:nvSpPr>
          <p:cNvPr id="26" name="Oval 25"/>
          <p:cNvSpPr/>
          <p:nvPr/>
        </p:nvSpPr>
        <p:spPr>
          <a:xfrm>
            <a:off x="25420320" y="6492240"/>
            <a:ext cx="1737360" cy="1737360"/>
          </a:xfrm>
          <a:prstGeom prst="ellipse">
            <a:avLst/>
          </a:prstGeom>
          <a:solidFill>
            <a:srgbClr val="2C5F2D"/>
          </a:solidFill>
          <a:ln w="3810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420320" y="6492240"/>
            <a:ext cx="1737360" cy="1737360"/>
          </a:xfrm>
          <a:prstGeom prst="rect">
            <a:avLst/>
          </a:prstGeom>
          <a:noFill/>
        </p:spPr>
        <p:txBody>
          <a:bodyPr wrap="square" lIns="0" tIns="0" rIns="0" bIns="0" anchor="ctr">
            <a:spAutoFit/>
          </a:bodyPr>
          <a:lstStyle/>
          <a:p>
            <a:pPr algn="ctr">
              <a:lnSpc>
                <a:spcPct val="105000"/>
              </a:lnSpc>
            </a:pPr>
            <a:r>
              <a:rPr sz="4600" b="1" i="0">
                <a:solidFill>
                  <a:srgbClr val="FFFFFF"/>
                </a:solidFill>
                <a:latin typeface="Calibri"/>
              </a:rPr>
              <a:t>5</a:t>
            </a:r>
          </a:p>
        </p:txBody>
      </p:sp>
      <p:sp>
        <p:nvSpPr>
          <p:cNvPr id="28" name="TextBox 27"/>
          <p:cNvSpPr txBox="1"/>
          <p:nvPr/>
        </p:nvSpPr>
        <p:spPr>
          <a:xfrm>
            <a:off x="23500080" y="8366760"/>
            <a:ext cx="5577840" cy="1097280"/>
          </a:xfrm>
          <a:prstGeom prst="rect">
            <a:avLst/>
          </a:prstGeom>
          <a:noFill/>
        </p:spPr>
        <p:txBody>
          <a:bodyPr wrap="square" lIns="0" tIns="0" rIns="0" bIns="0" anchor="t">
            <a:spAutoFit/>
          </a:bodyPr>
          <a:lstStyle/>
          <a:p>
            <a:pPr algn="ctr">
              <a:lnSpc>
                <a:spcPct val="100000"/>
              </a:lnSpc>
            </a:pPr>
            <a:r>
              <a:rPr sz="2400" b="1" i="0">
                <a:solidFill>
                  <a:srgbClr val="222A22"/>
                </a:solidFill>
                <a:latin typeface="Calibri"/>
              </a:rPr>
              <a:t>Insights &amp;</a:t>
            </a:r>
          </a:p>
          <a:p>
            <a:pPr algn="ctr">
              <a:lnSpc>
                <a:spcPct val="100000"/>
              </a:lnSpc>
            </a:pPr>
            <a:r>
              <a:rPr sz="2400" b="1" i="0">
                <a:solidFill>
                  <a:srgbClr val="222A22"/>
                </a:solidFill>
                <a:latin typeface="Calibri"/>
              </a:rPr>
              <a:t>Recommend.</a:t>
            </a:r>
          </a:p>
        </p:txBody>
      </p:sp>
      <p:sp>
        <p:nvSpPr>
          <p:cNvPr id="29" name="Rounded Rectangle 28"/>
          <p:cNvSpPr/>
          <p:nvPr/>
        </p:nvSpPr>
        <p:spPr>
          <a:xfrm>
            <a:off x="1188720" y="9966960"/>
            <a:ext cx="8808720" cy="1371600"/>
          </a:xfrm>
          <a:prstGeom prst="round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1444752" y="10195560"/>
            <a:ext cx="914400" cy="914400"/>
          </a:xfrm>
          <a:prstGeom prst="round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444752" y="10195560"/>
            <a:ext cx="914400" cy="914400"/>
          </a:xfrm>
          <a:prstGeom prst="rect">
            <a:avLst/>
          </a:prstGeom>
          <a:noFill/>
        </p:spPr>
        <p:txBody>
          <a:bodyPr wrap="square" lIns="0" tIns="0" rIns="0" bIns="0" anchor="ctr">
            <a:spAutoFit/>
          </a:bodyPr>
          <a:lstStyle/>
          <a:p>
            <a:pPr algn="ctr">
              <a:lnSpc>
                <a:spcPct val="105000"/>
              </a:lnSpc>
            </a:pPr>
            <a:r>
              <a:rPr sz="4000" b="1" i="0">
                <a:solidFill>
                  <a:srgbClr val="1E331E"/>
                </a:solidFill>
                <a:latin typeface="Calibri"/>
              </a:rPr>
              <a:t>1</a:t>
            </a:r>
          </a:p>
        </p:txBody>
      </p:sp>
      <p:sp>
        <p:nvSpPr>
          <p:cNvPr id="32" name="TextBox 31"/>
          <p:cNvSpPr txBox="1"/>
          <p:nvPr/>
        </p:nvSpPr>
        <p:spPr>
          <a:xfrm>
            <a:off x="2651760" y="9966960"/>
            <a:ext cx="7162800" cy="1371600"/>
          </a:xfrm>
          <a:prstGeom prst="rect">
            <a:avLst/>
          </a:prstGeom>
          <a:noFill/>
        </p:spPr>
        <p:txBody>
          <a:bodyPr wrap="square" lIns="0" tIns="0" rIns="0" bIns="0" anchor="ctr">
            <a:spAutoFit/>
          </a:bodyPr>
          <a:lstStyle/>
          <a:p>
            <a:pPr algn="l">
              <a:lnSpc>
                <a:spcPct val="105000"/>
              </a:lnSpc>
            </a:pPr>
            <a:r>
              <a:rPr sz="4200" b="1" i="0">
                <a:solidFill>
                  <a:srgbClr val="FFFFFF"/>
                </a:solidFill>
                <a:latin typeface="Calibri"/>
              </a:rPr>
              <a:t>Why this matters</a:t>
            </a:r>
          </a:p>
        </p:txBody>
      </p:sp>
      <p:sp>
        <p:nvSpPr>
          <p:cNvPr id="33" name="TextBox 32"/>
          <p:cNvSpPr txBox="1"/>
          <p:nvPr/>
        </p:nvSpPr>
        <p:spPr>
          <a:xfrm>
            <a:off x="1188720" y="11658600"/>
            <a:ext cx="8808720" cy="4572000"/>
          </a:xfrm>
          <a:prstGeom prst="rect">
            <a:avLst/>
          </a:prstGeom>
          <a:noFill/>
        </p:spPr>
        <p:txBody>
          <a:bodyPr wrap="square" lIns="0" tIns="0" rIns="0" bIns="0" anchor="t">
            <a:spAutoFit/>
          </a:bodyPr>
          <a:lstStyle/>
          <a:p>
            <a:pPr algn="l">
              <a:lnSpc>
                <a:spcPct val="115000"/>
              </a:lnSpc>
            </a:pPr>
            <a:r>
              <a:rPr sz="2800" b="0" i="0">
                <a:solidFill>
                  <a:srgbClr val="222A22"/>
                </a:solidFill>
                <a:latin typeface="Calibri"/>
              </a:rPr>
              <a:t>AI systems now assign the ESG scores that move money — pension funds, index weightings and lending all lean on them. The trouble is what sits underneath. Providers rank the same firm very differently, the text models can be talked out of a verdict by the right buzzwords, and almost none of it is open to inspection.</a:t>
            </a:r>
          </a:p>
          <a:p>
            <a:pPr algn="l">
              <a:lnSpc>
                <a:spcPct val="115000"/>
              </a:lnSpc>
            </a:pPr>
            <a:r>
              <a:rPr sz="2800" b="0" i="0">
                <a:solidFill>
                  <a:srgbClr val="222A22"/>
                </a:solidFill>
                <a:latin typeface="Calibri"/>
              </a:rPr>
              <a:t>We put AI-based ESG scoring through five separate stress tests, on two public datasets, with code anyone can re-run.</a:t>
            </a:r>
          </a:p>
        </p:txBody>
      </p:sp>
      <p:sp>
        <p:nvSpPr>
          <p:cNvPr id="34" name="Rounded Rectangle 33"/>
          <p:cNvSpPr/>
          <p:nvPr/>
        </p:nvSpPr>
        <p:spPr>
          <a:xfrm>
            <a:off x="1188720" y="16504920"/>
            <a:ext cx="8808720" cy="1371600"/>
          </a:xfrm>
          <a:prstGeom prst="round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444752" y="16733520"/>
            <a:ext cx="914400" cy="914400"/>
          </a:xfrm>
          <a:prstGeom prst="round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444752" y="16733520"/>
            <a:ext cx="914400" cy="914400"/>
          </a:xfrm>
          <a:prstGeom prst="rect">
            <a:avLst/>
          </a:prstGeom>
          <a:noFill/>
        </p:spPr>
        <p:txBody>
          <a:bodyPr wrap="square" lIns="0" tIns="0" rIns="0" bIns="0" anchor="ctr">
            <a:spAutoFit/>
          </a:bodyPr>
          <a:lstStyle/>
          <a:p>
            <a:pPr algn="ctr">
              <a:lnSpc>
                <a:spcPct val="105000"/>
              </a:lnSpc>
            </a:pPr>
            <a:r>
              <a:rPr sz="4000" b="1" i="0">
                <a:solidFill>
                  <a:srgbClr val="1E331E"/>
                </a:solidFill>
                <a:latin typeface="Calibri"/>
              </a:rPr>
              <a:t>2</a:t>
            </a:r>
          </a:p>
        </p:txBody>
      </p:sp>
      <p:sp>
        <p:nvSpPr>
          <p:cNvPr id="37" name="TextBox 36"/>
          <p:cNvSpPr txBox="1"/>
          <p:nvPr/>
        </p:nvSpPr>
        <p:spPr>
          <a:xfrm>
            <a:off x="2651760" y="16504920"/>
            <a:ext cx="7162800" cy="1371600"/>
          </a:xfrm>
          <a:prstGeom prst="rect">
            <a:avLst/>
          </a:prstGeom>
          <a:noFill/>
        </p:spPr>
        <p:txBody>
          <a:bodyPr wrap="square" lIns="0" tIns="0" rIns="0" bIns="0" anchor="ctr">
            <a:spAutoFit/>
          </a:bodyPr>
          <a:lstStyle/>
          <a:p>
            <a:pPr algn="l">
              <a:lnSpc>
                <a:spcPct val="105000"/>
              </a:lnSpc>
            </a:pPr>
            <a:r>
              <a:rPr sz="4200" b="1" i="0">
                <a:solidFill>
                  <a:srgbClr val="FFFFFF"/>
                </a:solidFill>
                <a:latin typeface="Calibri"/>
              </a:rPr>
              <a:t>The data</a:t>
            </a:r>
          </a:p>
        </p:txBody>
      </p:sp>
      <p:sp>
        <p:nvSpPr>
          <p:cNvPr id="38" name="Rounded Rectangle 37"/>
          <p:cNvSpPr/>
          <p:nvPr/>
        </p:nvSpPr>
        <p:spPr>
          <a:xfrm>
            <a:off x="1188720" y="18196560"/>
            <a:ext cx="8808720" cy="2103120"/>
          </a:xfrm>
          <a:prstGeom prst="roundRect">
            <a:avLst/>
          </a:prstGeom>
          <a:solidFill>
            <a:srgbClr val="FFFFFF"/>
          </a:solidFill>
          <a:ln w="1905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554480" y="18470880"/>
            <a:ext cx="8077199" cy="1645920"/>
          </a:xfrm>
          <a:prstGeom prst="rect">
            <a:avLst/>
          </a:prstGeom>
          <a:noFill/>
        </p:spPr>
        <p:txBody>
          <a:bodyPr wrap="square" lIns="0" tIns="0" rIns="0" bIns="0" anchor="t">
            <a:spAutoFit/>
          </a:bodyPr>
          <a:lstStyle/>
          <a:p>
            <a:pPr algn="l">
              <a:lnSpc>
                <a:spcPct val="110000"/>
              </a:lnSpc>
            </a:pPr>
            <a:r>
              <a:rPr sz="2800" b="1" i="0">
                <a:solidFill>
                  <a:srgbClr val="2C5F2D"/>
                </a:solidFill>
                <a:latin typeface="Calibri"/>
              </a:rPr>
              <a:t>Public Company ESG Ratings</a:t>
            </a:r>
          </a:p>
          <a:p>
            <a:pPr algn="l">
              <a:lnSpc>
                <a:spcPct val="110000"/>
              </a:lnSpc>
            </a:pPr>
            <a:r>
              <a:rPr sz="2500" b="0" i="0">
                <a:solidFill>
                  <a:srgbClr val="222A22"/>
                </a:solidFill>
                <a:latin typeface="Calibri"/>
              </a:rPr>
              <a:t>503 S&amp;P 500 firms · environment, social, governance and controversy risk scores, sector, headcount, risk level.</a:t>
            </a:r>
          </a:p>
        </p:txBody>
      </p:sp>
      <p:sp>
        <p:nvSpPr>
          <p:cNvPr id="40" name="Rounded Rectangle 39"/>
          <p:cNvSpPr/>
          <p:nvPr/>
        </p:nvSpPr>
        <p:spPr>
          <a:xfrm>
            <a:off x="1188720" y="20574000"/>
            <a:ext cx="8808720" cy="2103120"/>
          </a:xfrm>
          <a:prstGeom prst="roundRect">
            <a:avLst/>
          </a:prstGeom>
          <a:solidFill>
            <a:srgbClr val="FFFFFF"/>
          </a:solidFill>
          <a:ln w="1905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554480" y="20848320"/>
            <a:ext cx="8077199" cy="1645920"/>
          </a:xfrm>
          <a:prstGeom prst="rect">
            <a:avLst/>
          </a:prstGeom>
          <a:noFill/>
        </p:spPr>
        <p:txBody>
          <a:bodyPr wrap="square" lIns="0" tIns="0" rIns="0" bIns="0" anchor="t">
            <a:spAutoFit/>
          </a:bodyPr>
          <a:lstStyle/>
          <a:p>
            <a:pPr algn="l">
              <a:lnSpc>
                <a:spcPct val="110000"/>
              </a:lnSpc>
            </a:pPr>
            <a:r>
              <a:rPr sz="2800" b="1" i="0">
                <a:solidFill>
                  <a:srgbClr val="2C5F2D"/>
                </a:solidFill>
                <a:latin typeface="Calibri"/>
              </a:rPr>
              <a:t>S&amp;P 500 ESG Report Sentences</a:t>
            </a:r>
          </a:p>
          <a:p>
            <a:pPr algn="l">
              <a:lnSpc>
                <a:spcPct val="110000"/>
              </a:lnSpc>
            </a:pPr>
            <a:r>
              <a:rPr sz="2500" b="0" i="0">
                <a:solidFill>
                  <a:srgbClr val="222A22"/>
                </a:solidFill>
                <a:latin typeface="Calibri"/>
              </a:rPr>
              <a:t>~2,600 labelled sentences from sustainability reports (text + binary label). Used for the text-robustness test.</a:t>
            </a:r>
          </a:p>
        </p:txBody>
      </p:sp>
      <p:sp>
        <p:nvSpPr>
          <p:cNvPr id="42" name="Rounded Rectangle 41"/>
          <p:cNvSpPr/>
          <p:nvPr/>
        </p:nvSpPr>
        <p:spPr>
          <a:xfrm>
            <a:off x="1188720" y="23225760"/>
            <a:ext cx="8808720" cy="1371600"/>
          </a:xfrm>
          <a:prstGeom prst="round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1444752" y="23454360"/>
            <a:ext cx="914400" cy="914400"/>
          </a:xfrm>
          <a:prstGeom prst="round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444752" y="23454360"/>
            <a:ext cx="914400" cy="914400"/>
          </a:xfrm>
          <a:prstGeom prst="rect">
            <a:avLst/>
          </a:prstGeom>
          <a:noFill/>
        </p:spPr>
        <p:txBody>
          <a:bodyPr wrap="square" lIns="0" tIns="0" rIns="0" bIns="0" anchor="ctr">
            <a:spAutoFit/>
          </a:bodyPr>
          <a:lstStyle/>
          <a:p>
            <a:pPr algn="ctr">
              <a:lnSpc>
                <a:spcPct val="105000"/>
              </a:lnSpc>
            </a:pPr>
            <a:r>
              <a:rPr sz="4000" b="1" i="0">
                <a:solidFill>
                  <a:srgbClr val="1E331E"/>
                </a:solidFill>
                <a:latin typeface="Calibri"/>
              </a:rPr>
              <a:t>3</a:t>
            </a:r>
          </a:p>
        </p:txBody>
      </p:sp>
      <p:sp>
        <p:nvSpPr>
          <p:cNvPr id="45" name="TextBox 44"/>
          <p:cNvSpPr txBox="1"/>
          <p:nvPr/>
        </p:nvSpPr>
        <p:spPr>
          <a:xfrm>
            <a:off x="2651760" y="23225760"/>
            <a:ext cx="7162800" cy="1371600"/>
          </a:xfrm>
          <a:prstGeom prst="rect">
            <a:avLst/>
          </a:prstGeom>
          <a:noFill/>
        </p:spPr>
        <p:txBody>
          <a:bodyPr wrap="square" lIns="0" tIns="0" rIns="0" bIns="0" anchor="ctr">
            <a:spAutoFit/>
          </a:bodyPr>
          <a:lstStyle/>
          <a:p>
            <a:pPr algn="l">
              <a:lnSpc>
                <a:spcPct val="105000"/>
              </a:lnSpc>
            </a:pPr>
            <a:r>
              <a:rPr sz="4200" b="1" i="0">
                <a:solidFill>
                  <a:srgbClr val="FFFFFF"/>
                </a:solidFill>
                <a:latin typeface="Calibri"/>
              </a:rPr>
              <a:t>Five questions</a:t>
            </a:r>
          </a:p>
        </p:txBody>
      </p:sp>
      <p:sp>
        <p:nvSpPr>
          <p:cNvPr id="46" name="Rounded Rectangle 45"/>
          <p:cNvSpPr/>
          <p:nvPr/>
        </p:nvSpPr>
        <p:spPr>
          <a:xfrm>
            <a:off x="1188720" y="24917400"/>
            <a:ext cx="8808720" cy="1691640"/>
          </a:xfrm>
          <a:prstGeom prst="roundRect">
            <a:avLst/>
          </a:prstGeom>
          <a:solidFill>
            <a:srgbClr val="FFFFFF"/>
          </a:solidFill>
          <a:ln w="1905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508760" y="25100280"/>
            <a:ext cx="2194560" cy="1325880"/>
          </a:xfrm>
          <a:prstGeom prst="rect">
            <a:avLst/>
          </a:prstGeom>
          <a:noFill/>
        </p:spPr>
        <p:txBody>
          <a:bodyPr wrap="square" lIns="0" tIns="0" rIns="0" bIns="0" anchor="ctr">
            <a:spAutoFit/>
          </a:bodyPr>
          <a:lstStyle/>
          <a:p>
            <a:pPr algn="l">
              <a:lnSpc>
                <a:spcPct val="105000"/>
              </a:lnSpc>
            </a:pPr>
            <a:r>
              <a:rPr sz="2800" b="1" i="0">
                <a:solidFill>
                  <a:srgbClr val="2C5F2D"/>
                </a:solidFill>
                <a:latin typeface="Calibri"/>
              </a:rPr>
              <a:t>RQ1</a:t>
            </a:r>
          </a:p>
        </p:txBody>
      </p:sp>
      <p:sp>
        <p:nvSpPr>
          <p:cNvPr id="48" name="TextBox 47"/>
          <p:cNvSpPr txBox="1"/>
          <p:nvPr/>
        </p:nvSpPr>
        <p:spPr>
          <a:xfrm>
            <a:off x="3657600" y="25100280"/>
            <a:ext cx="6065520" cy="1325880"/>
          </a:xfrm>
          <a:prstGeom prst="rect">
            <a:avLst/>
          </a:prstGeom>
          <a:noFill/>
        </p:spPr>
        <p:txBody>
          <a:bodyPr wrap="square" lIns="0" tIns="0" rIns="0" bIns="0" anchor="ctr">
            <a:spAutoFit/>
          </a:bodyPr>
          <a:lstStyle/>
          <a:p>
            <a:pPr algn="l">
              <a:lnSpc>
                <a:spcPct val="105000"/>
              </a:lnSpc>
            </a:pPr>
            <a:r>
              <a:rPr sz="2400" b="0" i="0">
                <a:solidFill>
                  <a:srgbClr val="222A22"/>
                </a:solidFill>
                <a:latin typeface="Calibri"/>
              </a:rPr>
              <a:t>Do a rater's own ESG sub-scores even agree on which firm is better?</a:t>
            </a:r>
          </a:p>
        </p:txBody>
      </p:sp>
      <p:sp>
        <p:nvSpPr>
          <p:cNvPr id="49" name="Rounded Rectangle 48"/>
          <p:cNvSpPr/>
          <p:nvPr/>
        </p:nvSpPr>
        <p:spPr>
          <a:xfrm>
            <a:off x="1188720" y="26791920"/>
            <a:ext cx="8808720" cy="1691640"/>
          </a:xfrm>
          <a:prstGeom prst="roundRect">
            <a:avLst/>
          </a:prstGeom>
          <a:solidFill>
            <a:srgbClr val="FFFFFF"/>
          </a:solidFill>
          <a:ln w="1905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508760" y="26974800"/>
            <a:ext cx="2194560" cy="1325880"/>
          </a:xfrm>
          <a:prstGeom prst="rect">
            <a:avLst/>
          </a:prstGeom>
          <a:noFill/>
        </p:spPr>
        <p:txBody>
          <a:bodyPr wrap="square" lIns="0" tIns="0" rIns="0" bIns="0" anchor="ctr">
            <a:spAutoFit/>
          </a:bodyPr>
          <a:lstStyle/>
          <a:p>
            <a:pPr algn="l">
              <a:lnSpc>
                <a:spcPct val="105000"/>
              </a:lnSpc>
            </a:pPr>
            <a:r>
              <a:rPr sz="2800" b="1" i="0">
                <a:solidFill>
                  <a:srgbClr val="2C5F2D"/>
                </a:solidFill>
                <a:latin typeface="Calibri"/>
              </a:rPr>
              <a:t>RQ2</a:t>
            </a:r>
          </a:p>
        </p:txBody>
      </p:sp>
      <p:sp>
        <p:nvSpPr>
          <p:cNvPr id="51" name="TextBox 50"/>
          <p:cNvSpPr txBox="1"/>
          <p:nvPr/>
        </p:nvSpPr>
        <p:spPr>
          <a:xfrm>
            <a:off x="3657600" y="26974800"/>
            <a:ext cx="6065520" cy="1325880"/>
          </a:xfrm>
          <a:prstGeom prst="rect">
            <a:avLst/>
          </a:prstGeom>
          <a:noFill/>
        </p:spPr>
        <p:txBody>
          <a:bodyPr wrap="square" lIns="0" tIns="0" rIns="0" bIns="0" anchor="ctr">
            <a:spAutoFit/>
          </a:bodyPr>
          <a:lstStyle/>
          <a:p>
            <a:pPr algn="l">
              <a:lnSpc>
                <a:spcPct val="105000"/>
              </a:lnSpc>
            </a:pPr>
            <a:r>
              <a:rPr sz="2400" b="0" i="0">
                <a:solidFill>
                  <a:srgbClr val="222A22"/>
                </a:solidFill>
                <a:latin typeface="Calibri"/>
              </a:rPr>
              <a:t>Can adversarial or greenwashing text fool an ESG classifier?</a:t>
            </a:r>
          </a:p>
        </p:txBody>
      </p:sp>
      <p:sp>
        <p:nvSpPr>
          <p:cNvPr id="52" name="Rounded Rectangle 51"/>
          <p:cNvSpPr/>
          <p:nvPr/>
        </p:nvSpPr>
        <p:spPr>
          <a:xfrm>
            <a:off x="1188720" y="28666440"/>
            <a:ext cx="8808720" cy="1691640"/>
          </a:xfrm>
          <a:prstGeom prst="roundRect">
            <a:avLst/>
          </a:prstGeom>
          <a:solidFill>
            <a:srgbClr val="FFFFFF"/>
          </a:solidFill>
          <a:ln w="1905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508760" y="28849320"/>
            <a:ext cx="2194560" cy="1325880"/>
          </a:xfrm>
          <a:prstGeom prst="rect">
            <a:avLst/>
          </a:prstGeom>
          <a:noFill/>
        </p:spPr>
        <p:txBody>
          <a:bodyPr wrap="square" lIns="0" tIns="0" rIns="0" bIns="0" anchor="ctr">
            <a:spAutoFit/>
          </a:bodyPr>
          <a:lstStyle/>
          <a:p>
            <a:pPr algn="l">
              <a:lnSpc>
                <a:spcPct val="105000"/>
              </a:lnSpc>
            </a:pPr>
            <a:r>
              <a:rPr sz="2800" b="1" i="0">
                <a:solidFill>
                  <a:srgbClr val="2C5F2D"/>
                </a:solidFill>
                <a:latin typeface="Calibri"/>
              </a:rPr>
              <a:t>RQ3</a:t>
            </a:r>
          </a:p>
        </p:txBody>
      </p:sp>
      <p:sp>
        <p:nvSpPr>
          <p:cNvPr id="54" name="TextBox 53"/>
          <p:cNvSpPr txBox="1"/>
          <p:nvPr/>
        </p:nvSpPr>
        <p:spPr>
          <a:xfrm>
            <a:off x="3657600" y="28849320"/>
            <a:ext cx="6065520" cy="1325880"/>
          </a:xfrm>
          <a:prstGeom prst="rect">
            <a:avLst/>
          </a:prstGeom>
          <a:noFill/>
        </p:spPr>
        <p:txBody>
          <a:bodyPr wrap="square" lIns="0" tIns="0" rIns="0" bIns="0" anchor="ctr">
            <a:spAutoFit/>
          </a:bodyPr>
          <a:lstStyle/>
          <a:p>
            <a:pPr algn="l">
              <a:lnSpc>
                <a:spcPct val="105000"/>
              </a:lnSpc>
            </a:pPr>
            <a:r>
              <a:rPr sz="2400" b="0" i="0">
                <a:solidFill>
                  <a:srgbClr val="222A22"/>
                </a:solidFill>
                <a:latin typeface="Calibri"/>
              </a:rPr>
              <a:t>Can a closed model be audited without handing over its weights?</a:t>
            </a:r>
          </a:p>
        </p:txBody>
      </p:sp>
      <p:sp>
        <p:nvSpPr>
          <p:cNvPr id="55" name="Rounded Rectangle 54"/>
          <p:cNvSpPr/>
          <p:nvPr/>
        </p:nvSpPr>
        <p:spPr>
          <a:xfrm>
            <a:off x="1188720" y="30540960"/>
            <a:ext cx="8808720" cy="1691640"/>
          </a:xfrm>
          <a:prstGeom prst="roundRect">
            <a:avLst/>
          </a:prstGeom>
          <a:solidFill>
            <a:srgbClr val="FFFFFF"/>
          </a:solidFill>
          <a:ln w="1905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508760" y="30723840"/>
            <a:ext cx="2194560" cy="1325880"/>
          </a:xfrm>
          <a:prstGeom prst="rect">
            <a:avLst/>
          </a:prstGeom>
          <a:noFill/>
        </p:spPr>
        <p:txBody>
          <a:bodyPr wrap="square" lIns="0" tIns="0" rIns="0" bIns="0" anchor="ctr">
            <a:spAutoFit/>
          </a:bodyPr>
          <a:lstStyle/>
          <a:p>
            <a:pPr algn="l">
              <a:lnSpc>
                <a:spcPct val="105000"/>
              </a:lnSpc>
            </a:pPr>
            <a:r>
              <a:rPr sz="2800" b="1" i="0">
                <a:solidFill>
                  <a:srgbClr val="2C5F2D"/>
                </a:solidFill>
                <a:latin typeface="Calibri"/>
              </a:rPr>
              <a:t>RQ4</a:t>
            </a:r>
          </a:p>
        </p:txBody>
      </p:sp>
      <p:sp>
        <p:nvSpPr>
          <p:cNvPr id="57" name="TextBox 56"/>
          <p:cNvSpPr txBox="1"/>
          <p:nvPr/>
        </p:nvSpPr>
        <p:spPr>
          <a:xfrm>
            <a:off x="3657600" y="30723840"/>
            <a:ext cx="6065520" cy="1325880"/>
          </a:xfrm>
          <a:prstGeom prst="rect">
            <a:avLst/>
          </a:prstGeom>
          <a:noFill/>
        </p:spPr>
        <p:txBody>
          <a:bodyPr wrap="square" lIns="0" tIns="0" rIns="0" bIns="0" anchor="ctr">
            <a:spAutoFit/>
          </a:bodyPr>
          <a:lstStyle/>
          <a:p>
            <a:pPr algn="l">
              <a:lnSpc>
                <a:spcPct val="105000"/>
              </a:lnSpc>
            </a:pPr>
            <a:r>
              <a:rPr sz="2400" b="0" i="0">
                <a:solidFill>
                  <a:srgbClr val="222A22"/>
                </a:solidFill>
                <a:latin typeface="Calibri"/>
              </a:rPr>
              <a:t>Do the scores quietly penalise some sectors or firm sizes?</a:t>
            </a:r>
          </a:p>
        </p:txBody>
      </p:sp>
      <p:sp>
        <p:nvSpPr>
          <p:cNvPr id="58" name="Rounded Rectangle 57"/>
          <p:cNvSpPr/>
          <p:nvPr/>
        </p:nvSpPr>
        <p:spPr>
          <a:xfrm>
            <a:off x="1188720" y="32415480"/>
            <a:ext cx="8808720" cy="1691640"/>
          </a:xfrm>
          <a:prstGeom prst="roundRect">
            <a:avLst/>
          </a:prstGeom>
          <a:solidFill>
            <a:srgbClr val="FFFFFF"/>
          </a:solidFill>
          <a:ln w="19050">
            <a:solidFill>
              <a:srgbClr val="97B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508760" y="32598360"/>
            <a:ext cx="2194560" cy="1325880"/>
          </a:xfrm>
          <a:prstGeom prst="rect">
            <a:avLst/>
          </a:prstGeom>
          <a:noFill/>
        </p:spPr>
        <p:txBody>
          <a:bodyPr wrap="square" lIns="0" tIns="0" rIns="0" bIns="0" anchor="ctr">
            <a:spAutoFit/>
          </a:bodyPr>
          <a:lstStyle/>
          <a:p>
            <a:pPr algn="l">
              <a:lnSpc>
                <a:spcPct val="105000"/>
              </a:lnSpc>
            </a:pPr>
            <a:r>
              <a:rPr sz="2800" b="1" i="0">
                <a:solidFill>
                  <a:srgbClr val="2C5F2D"/>
                </a:solidFill>
                <a:latin typeface="Calibri"/>
              </a:rPr>
              <a:t>RQ5</a:t>
            </a:r>
          </a:p>
        </p:txBody>
      </p:sp>
      <p:sp>
        <p:nvSpPr>
          <p:cNvPr id="60" name="TextBox 59"/>
          <p:cNvSpPr txBox="1"/>
          <p:nvPr/>
        </p:nvSpPr>
        <p:spPr>
          <a:xfrm>
            <a:off x="3657600" y="32598360"/>
            <a:ext cx="6065520" cy="1325880"/>
          </a:xfrm>
          <a:prstGeom prst="rect">
            <a:avLst/>
          </a:prstGeom>
          <a:noFill/>
        </p:spPr>
        <p:txBody>
          <a:bodyPr wrap="square" lIns="0" tIns="0" rIns="0" bIns="0" anchor="ctr">
            <a:spAutoFit/>
          </a:bodyPr>
          <a:lstStyle/>
          <a:p>
            <a:pPr algn="l">
              <a:lnSpc>
                <a:spcPct val="105000"/>
              </a:lnSpc>
            </a:pPr>
            <a:r>
              <a:rPr sz="2400" b="0" i="0">
                <a:solidFill>
                  <a:srgbClr val="222A22"/>
                </a:solidFill>
                <a:latin typeface="Calibri"/>
              </a:rPr>
              <a:t>Does a model still work when the kind of firm it sees changes?</a:t>
            </a:r>
          </a:p>
        </p:txBody>
      </p:sp>
      <p:sp>
        <p:nvSpPr>
          <p:cNvPr id="61" name="Rounded Rectangle 60"/>
          <p:cNvSpPr/>
          <p:nvPr/>
        </p:nvSpPr>
        <p:spPr>
          <a:xfrm>
            <a:off x="1188720" y="34472880"/>
            <a:ext cx="8808720" cy="1371600"/>
          </a:xfrm>
          <a:prstGeom prst="round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1444752" y="34701480"/>
            <a:ext cx="914400" cy="914400"/>
          </a:xfrm>
          <a:prstGeom prst="round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444752" y="34701480"/>
            <a:ext cx="914400" cy="914400"/>
          </a:xfrm>
          <a:prstGeom prst="rect">
            <a:avLst/>
          </a:prstGeom>
          <a:noFill/>
        </p:spPr>
        <p:txBody>
          <a:bodyPr wrap="square" lIns="0" tIns="0" rIns="0" bIns="0" anchor="ctr">
            <a:spAutoFit/>
          </a:bodyPr>
          <a:lstStyle/>
          <a:p>
            <a:pPr algn="ctr">
              <a:lnSpc>
                <a:spcPct val="105000"/>
              </a:lnSpc>
            </a:pPr>
            <a:r>
              <a:rPr sz="4000" b="1" i="0">
                <a:solidFill>
                  <a:srgbClr val="1E331E"/>
                </a:solidFill>
                <a:latin typeface="Calibri"/>
              </a:rPr>
              <a:t>6</a:t>
            </a:r>
          </a:p>
        </p:txBody>
      </p:sp>
      <p:sp>
        <p:nvSpPr>
          <p:cNvPr id="64" name="TextBox 63"/>
          <p:cNvSpPr txBox="1"/>
          <p:nvPr/>
        </p:nvSpPr>
        <p:spPr>
          <a:xfrm>
            <a:off x="2651760" y="34472880"/>
            <a:ext cx="7162800" cy="1371600"/>
          </a:xfrm>
          <a:prstGeom prst="rect">
            <a:avLst/>
          </a:prstGeom>
          <a:noFill/>
        </p:spPr>
        <p:txBody>
          <a:bodyPr wrap="square" lIns="0" tIns="0" rIns="0" bIns="0" anchor="ctr">
            <a:spAutoFit/>
          </a:bodyPr>
          <a:lstStyle/>
          <a:p>
            <a:pPr algn="l">
              <a:lnSpc>
                <a:spcPct val="105000"/>
              </a:lnSpc>
            </a:pPr>
            <a:r>
              <a:rPr sz="4200" b="1" i="0">
                <a:solidFill>
                  <a:srgbClr val="FFFFFF"/>
                </a:solidFill>
                <a:latin typeface="Calibri"/>
              </a:rPr>
              <a:t>What's new here</a:t>
            </a:r>
          </a:p>
        </p:txBody>
      </p:sp>
      <p:sp>
        <p:nvSpPr>
          <p:cNvPr id="65" name="TextBox 64"/>
          <p:cNvSpPr txBox="1"/>
          <p:nvPr/>
        </p:nvSpPr>
        <p:spPr>
          <a:xfrm>
            <a:off x="1188720" y="36164520"/>
            <a:ext cx="8808720" cy="914400"/>
          </a:xfrm>
          <a:prstGeom prst="rect">
            <a:avLst/>
          </a:prstGeom>
          <a:noFill/>
        </p:spPr>
        <p:txBody>
          <a:bodyPr wrap="square" lIns="0" tIns="0" rIns="0" bIns="0" anchor="t">
            <a:spAutoFit/>
          </a:bodyPr>
          <a:lstStyle/>
          <a:p>
            <a:pPr algn="l">
              <a:lnSpc>
                <a:spcPct val="105000"/>
              </a:lnSpc>
            </a:pPr>
            <a:r>
              <a:rPr sz="2500" b="0" i="0">
                <a:solidFill>
                  <a:srgbClr val="222A22"/>
                </a:solidFill>
                <a:latin typeface="Calibri"/>
              </a:rPr>
              <a:t>✓  Divergence measured inside one rater, not just between raters</a:t>
            </a:r>
          </a:p>
        </p:txBody>
      </p:sp>
      <p:sp>
        <p:nvSpPr>
          <p:cNvPr id="66" name="TextBox 65"/>
          <p:cNvSpPr txBox="1"/>
          <p:nvPr/>
        </p:nvSpPr>
        <p:spPr>
          <a:xfrm>
            <a:off x="1188720" y="37097208"/>
            <a:ext cx="8808720" cy="914400"/>
          </a:xfrm>
          <a:prstGeom prst="rect">
            <a:avLst/>
          </a:prstGeom>
          <a:noFill/>
        </p:spPr>
        <p:txBody>
          <a:bodyPr wrap="square" lIns="0" tIns="0" rIns="0" bIns="0" anchor="t">
            <a:spAutoFit/>
          </a:bodyPr>
          <a:lstStyle/>
          <a:p>
            <a:pPr algn="l">
              <a:lnSpc>
                <a:spcPct val="105000"/>
              </a:lnSpc>
            </a:pPr>
            <a:r>
              <a:rPr sz="2500" b="0" i="0">
                <a:solidFill>
                  <a:srgbClr val="222A22"/>
                </a:solidFill>
                <a:latin typeface="Calibri"/>
              </a:rPr>
              <a:t>✓  A greenwashing-specific robustness test for ESG text models</a:t>
            </a:r>
          </a:p>
        </p:txBody>
      </p:sp>
      <p:sp>
        <p:nvSpPr>
          <p:cNvPr id="67" name="TextBox 66"/>
          <p:cNvSpPr txBox="1"/>
          <p:nvPr/>
        </p:nvSpPr>
        <p:spPr>
          <a:xfrm>
            <a:off x="1188720" y="38029896"/>
            <a:ext cx="8808720" cy="914400"/>
          </a:xfrm>
          <a:prstGeom prst="rect">
            <a:avLst/>
          </a:prstGeom>
          <a:noFill/>
        </p:spPr>
        <p:txBody>
          <a:bodyPr wrap="square" lIns="0" tIns="0" rIns="0" bIns="0" anchor="t">
            <a:spAutoFit/>
          </a:bodyPr>
          <a:lstStyle/>
          <a:p>
            <a:pPr algn="l">
              <a:lnSpc>
                <a:spcPct val="105000"/>
              </a:lnSpc>
            </a:pPr>
            <a:r>
              <a:rPr sz="2500" b="0" i="0">
                <a:solidFill>
                  <a:srgbClr val="222A22"/>
                </a:solidFill>
                <a:latin typeface="Calibri"/>
              </a:rPr>
              <a:t>✓  A surrogate-model route to auditing closed vendor scores</a:t>
            </a:r>
          </a:p>
        </p:txBody>
      </p:sp>
      <p:sp>
        <p:nvSpPr>
          <p:cNvPr id="68" name="TextBox 67"/>
          <p:cNvSpPr txBox="1"/>
          <p:nvPr/>
        </p:nvSpPr>
        <p:spPr>
          <a:xfrm>
            <a:off x="1188720" y="38962584"/>
            <a:ext cx="8808720" cy="914400"/>
          </a:xfrm>
          <a:prstGeom prst="rect">
            <a:avLst/>
          </a:prstGeom>
          <a:noFill/>
        </p:spPr>
        <p:txBody>
          <a:bodyPr wrap="square" lIns="0" tIns="0" rIns="0" bIns="0" anchor="t">
            <a:spAutoFit/>
          </a:bodyPr>
          <a:lstStyle/>
          <a:p>
            <a:pPr algn="l">
              <a:lnSpc>
                <a:spcPct val="105000"/>
              </a:lnSpc>
            </a:pPr>
            <a:r>
              <a:rPr sz="2500" b="0" i="0">
                <a:solidFill>
                  <a:srgbClr val="222A22"/>
                </a:solidFill>
                <a:latin typeface="Calibri"/>
              </a:rPr>
              <a:t>✓  Sector and firm-size fairness checks using the 4/5ths rule</a:t>
            </a:r>
          </a:p>
        </p:txBody>
      </p:sp>
      <p:sp>
        <p:nvSpPr>
          <p:cNvPr id="69" name="TextBox 68"/>
          <p:cNvSpPr txBox="1"/>
          <p:nvPr/>
        </p:nvSpPr>
        <p:spPr>
          <a:xfrm>
            <a:off x="1188720" y="39895272"/>
            <a:ext cx="8808720" cy="914400"/>
          </a:xfrm>
          <a:prstGeom prst="rect">
            <a:avLst/>
          </a:prstGeom>
          <a:noFill/>
        </p:spPr>
        <p:txBody>
          <a:bodyPr wrap="square" lIns="0" tIns="0" rIns="0" bIns="0" anchor="t">
            <a:spAutoFit/>
          </a:bodyPr>
          <a:lstStyle/>
          <a:p>
            <a:pPr algn="l">
              <a:lnSpc>
                <a:spcPct val="105000"/>
              </a:lnSpc>
            </a:pPr>
            <a:r>
              <a:rPr sz="2500" b="0" i="0">
                <a:solidFill>
                  <a:srgbClr val="222A22"/>
                </a:solidFill>
                <a:latin typeface="Calibri"/>
              </a:rPr>
              <a:t>✓  A distribution-shift test standing in for temporal drift</a:t>
            </a:r>
          </a:p>
        </p:txBody>
      </p:sp>
      <p:sp>
        <p:nvSpPr>
          <p:cNvPr id="70" name="Rounded Rectangle 69"/>
          <p:cNvSpPr/>
          <p:nvPr/>
        </p:nvSpPr>
        <p:spPr>
          <a:xfrm>
            <a:off x="10728960" y="9966960"/>
            <a:ext cx="8808720" cy="1371600"/>
          </a:xfrm>
          <a:prstGeom prst="round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p:cNvSpPr/>
          <p:nvPr/>
        </p:nvSpPr>
        <p:spPr>
          <a:xfrm>
            <a:off x="10984992" y="10195560"/>
            <a:ext cx="914400" cy="914400"/>
          </a:xfrm>
          <a:prstGeom prst="round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0984992" y="10195560"/>
            <a:ext cx="914400" cy="914400"/>
          </a:xfrm>
          <a:prstGeom prst="rect">
            <a:avLst/>
          </a:prstGeom>
          <a:noFill/>
        </p:spPr>
        <p:txBody>
          <a:bodyPr wrap="square" lIns="0" tIns="0" rIns="0" bIns="0" anchor="ctr">
            <a:spAutoFit/>
          </a:bodyPr>
          <a:lstStyle/>
          <a:p>
            <a:pPr algn="ctr">
              <a:lnSpc>
                <a:spcPct val="105000"/>
              </a:lnSpc>
            </a:pPr>
            <a:r>
              <a:rPr sz="4000" b="1" i="0">
                <a:solidFill>
                  <a:srgbClr val="1E331E"/>
                </a:solidFill>
                <a:latin typeface="Calibri"/>
              </a:rPr>
              <a:t>4</a:t>
            </a:r>
          </a:p>
        </p:txBody>
      </p:sp>
      <p:sp>
        <p:nvSpPr>
          <p:cNvPr id="73" name="TextBox 72"/>
          <p:cNvSpPr txBox="1"/>
          <p:nvPr/>
        </p:nvSpPr>
        <p:spPr>
          <a:xfrm>
            <a:off x="12192000" y="9966960"/>
            <a:ext cx="7162800" cy="1371600"/>
          </a:xfrm>
          <a:prstGeom prst="rect">
            <a:avLst/>
          </a:prstGeom>
          <a:noFill/>
        </p:spPr>
        <p:txBody>
          <a:bodyPr wrap="square" lIns="0" tIns="0" rIns="0" bIns="0" anchor="ctr">
            <a:spAutoFit/>
          </a:bodyPr>
          <a:lstStyle/>
          <a:p>
            <a:pPr algn="l">
              <a:lnSpc>
                <a:spcPct val="105000"/>
              </a:lnSpc>
            </a:pPr>
            <a:r>
              <a:rPr sz="4200" b="1" i="0">
                <a:solidFill>
                  <a:srgbClr val="FFFFFF"/>
                </a:solidFill>
                <a:latin typeface="Calibri"/>
              </a:rPr>
              <a:t>Results — RQ1 to RQ3</a:t>
            </a:r>
          </a:p>
        </p:txBody>
      </p:sp>
      <p:sp>
        <p:nvSpPr>
          <p:cNvPr id="74" name="TextBox 73"/>
          <p:cNvSpPr txBox="1"/>
          <p:nvPr/>
        </p:nvSpPr>
        <p:spPr>
          <a:xfrm>
            <a:off x="10728960" y="11658600"/>
            <a:ext cx="8808720" cy="822960"/>
          </a:xfrm>
          <a:prstGeom prst="rect">
            <a:avLst/>
          </a:prstGeom>
          <a:noFill/>
        </p:spPr>
        <p:txBody>
          <a:bodyPr wrap="square" lIns="0" tIns="0" rIns="0" bIns="0" anchor="t">
            <a:spAutoFit/>
          </a:bodyPr>
          <a:lstStyle/>
          <a:p>
            <a:pPr algn="l">
              <a:lnSpc>
                <a:spcPct val="105000"/>
              </a:lnSpc>
            </a:pPr>
            <a:r>
              <a:rPr sz="3000" b="1" i="0">
                <a:solidFill>
                  <a:srgbClr val="2C5F2D"/>
                </a:solidFill>
                <a:latin typeface="Calibri"/>
              </a:rPr>
              <a:t>RQ1 · Sub-scores barely agree</a:t>
            </a:r>
          </a:p>
        </p:txBody>
      </p:sp>
      <p:pic>
        <p:nvPicPr>
          <p:cNvPr id="75" name="Picture 74" descr="fig1_rq1_dimension_divergence.png"/>
          <p:cNvPicPr>
            <a:picLocks noChangeAspect="1"/>
          </p:cNvPicPr>
          <p:nvPr/>
        </p:nvPicPr>
        <p:blipFill>
          <a:blip r:embed="rId2"/>
          <a:stretch>
            <a:fillRect/>
          </a:stretch>
        </p:blipFill>
        <p:spPr>
          <a:xfrm>
            <a:off x="11681490" y="12573000"/>
            <a:ext cx="6903658" cy="5943600"/>
          </a:xfrm>
          <a:prstGeom prst="rect">
            <a:avLst/>
          </a:prstGeom>
          <a:ln>
            <a:noFill/>
          </a:ln>
          <a:effectLst>
            <a:outerShdw blurRad="292100" dist="139700" dir="2700000" algn="tl" rotWithShape="0">
              <a:srgbClr val="333333">
                <a:alpha val="65000"/>
              </a:srgbClr>
            </a:outerShdw>
          </a:effectLst>
        </p:spPr>
      </p:pic>
      <p:sp>
        <p:nvSpPr>
          <p:cNvPr id="76" name="TextBox 75"/>
          <p:cNvSpPr txBox="1"/>
          <p:nvPr/>
        </p:nvSpPr>
        <p:spPr>
          <a:xfrm>
            <a:off x="10728960" y="18745200"/>
            <a:ext cx="8808720" cy="2377440"/>
          </a:xfrm>
          <a:prstGeom prst="rect">
            <a:avLst/>
          </a:prstGeom>
          <a:noFill/>
        </p:spPr>
        <p:txBody>
          <a:bodyPr wrap="square" lIns="0" tIns="0" rIns="0" bIns="0" anchor="t">
            <a:spAutoFit/>
          </a:bodyPr>
          <a:lstStyle/>
          <a:p>
            <a:pPr algn="l">
              <a:lnSpc>
                <a:spcPct val="108000"/>
              </a:lnSpc>
            </a:pPr>
            <a:r>
              <a:rPr sz="2200" b="0" i="1">
                <a:solidFill>
                  <a:srgbClr val="555B55"/>
                </a:solidFill>
                <a:latin typeface="Calibri"/>
              </a:rPr>
              <a:t>Across 430 firms the four risk dimensions rank companies almost independently — average Spearman ρ of just 0.12. A single headline ESG number hides real internal disagreement.</a:t>
            </a:r>
          </a:p>
        </p:txBody>
      </p:sp>
      <p:sp>
        <p:nvSpPr>
          <p:cNvPr id="77" name="TextBox 76"/>
          <p:cNvSpPr txBox="1"/>
          <p:nvPr/>
        </p:nvSpPr>
        <p:spPr>
          <a:xfrm>
            <a:off x="10728960" y="21396960"/>
            <a:ext cx="8808720" cy="822960"/>
          </a:xfrm>
          <a:prstGeom prst="rect">
            <a:avLst/>
          </a:prstGeom>
          <a:noFill/>
        </p:spPr>
        <p:txBody>
          <a:bodyPr wrap="square" lIns="0" tIns="0" rIns="0" bIns="0" anchor="t">
            <a:spAutoFit/>
          </a:bodyPr>
          <a:lstStyle/>
          <a:p>
            <a:pPr algn="l">
              <a:lnSpc>
                <a:spcPct val="105000"/>
              </a:lnSpc>
            </a:pPr>
            <a:r>
              <a:rPr sz="3000" b="1" i="0">
                <a:solidFill>
                  <a:srgbClr val="2C5F2D"/>
                </a:solidFill>
                <a:latin typeface="Calibri"/>
              </a:rPr>
              <a:t>RQ2 · Greenwashing breaks it</a:t>
            </a:r>
          </a:p>
        </p:txBody>
      </p:sp>
      <p:pic>
        <p:nvPicPr>
          <p:cNvPr id="78" name="Picture 77" descr="fig2_rq2_robustness.png"/>
          <p:cNvPicPr>
            <a:picLocks noChangeAspect="1"/>
          </p:cNvPicPr>
          <p:nvPr/>
        </p:nvPicPr>
        <p:blipFill>
          <a:blip r:embed="rId3"/>
          <a:stretch>
            <a:fillRect/>
          </a:stretch>
        </p:blipFill>
        <p:spPr>
          <a:xfrm>
            <a:off x="10975095" y="22311360"/>
            <a:ext cx="8316449" cy="5669280"/>
          </a:xfrm>
          <a:prstGeom prst="rect">
            <a:avLst/>
          </a:prstGeom>
          <a:ln>
            <a:noFill/>
          </a:ln>
          <a:effectLst>
            <a:outerShdw blurRad="292100" dist="139700" dir="2700000" algn="tl" rotWithShape="0">
              <a:srgbClr val="333333">
                <a:alpha val="65000"/>
              </a:srgbClr>
            </a:outerShdw>
          </a:effectLst>
        </p:spPr>
      </p:pic>
      <p:sp>
        <p:nvSpPr>
          <p:cNvPr id="79" name="TextBox 78"/>
          <p:cNvSpPr txBox="1"/>
          <p:nvPr/>
        </p:nvSpPr>
        <p:spPr>
          <a:xfrm>
            <a:off x="10728960" y="28209239"/>
            <a:ext cx="8808720" cy="2377440"/>
          </a:xfrm>
          <a:prstGeom prst="rect">
            <a:avLst/>
          </a:prstGeom>
          <a:noFill/>
        </p:spPr>
        <p:txBody>
          <a:bodyPr wrap="square" lIns="0" tIns="0" rIns="0" bIns="0" anchor="t">
            <a:spAutoFit/>
          </a:bodyPr>
          <a:lstStyle/>
          <a:p>
            <a:pPr algn="l">
              <a:lnSpc>
                <a:spcPct val="108000"/>
              </a:lnSpc>
            </a:pPr>
            <a:r>
              <a:rPr sz="2200" b="0" i="1">
                <a:solidFill>
                  <a:srgbClr val="555B55"/>
                </a:solidFill>
                <a:latin typeface="Calibri"/>
              </a:rPr>
              <a:t>The model shrugs off synonym swaps and typos (F1 stays near 0.72). Pad the same sentences with green buzzwords and F1 falls to 0.53 — a 27% drop. The cheapest attack does the most damage.</a:t>
            </a:r>
          </a:p>
        </p:txBody>
      </p:sp>
      <p:sp>
        <p:nvSpPr>
          <p:cNvPr id="80" name="TextBox 79"/>
          <p:cNvSpPr txBox="1"/>
          <p:nvPr/>
        </p:nvSpPr>
        <p:spPr>
          <a:xfrm>
            <a:off x="10728960" y="30861000"/>
            <a:ext cx="8808720" cy="822960"/>
          </a:xfrm>
          <a:prstGeom prst="rect">
            <a:avLst/>
          </a:prstGeom>
          <a:noFill/>
        </p:spPr>
        <p:txBody>
          <a:bodyPr wrap="square" lIns="0" tIns="0" rIns="0" bIns="0" anchor="t">
            <a:spAutoFit/>
          </a:bodyPr>
          <a:lstStyle/>
          <a:p>
            <a:pPr algn="l">
              <a:lnSpc>
                <a:spcPct val="105000"/>
              </a:lnSpc>
            </a:pPr>
            <a:r>
              <a:rPr sz="3000" b="1" i="0">
                <a:solidFill>
                  <a:srgbClr val="2C5F2D"/>
                </a:solidFill>
                <a:latin typeface="Calibri"/>
              </a:rPr>
              <a:t>RQ3 · Closed models still auditable</a:t>
            </a:r>
          </a:p>
        </p:txBody>
      </p:sp>
      <p:pic>
        <p:nvPicPr>
          <p:cNvPr id="81" name="Picture 80" descr="fig3_rq3_zk_audit.png"/>
          <p:cNvPicPr>
            <a:picLocks noChangeAspect="1"/>
          </p:cNvPicPr>
          <p:nvPr/>
        </p:nvPicPr>
        <p:blipFill>
          <a:blip r:embed="rId4"/>
          <a:stretch>
            <a:fillRect/>
          </a:stretch>
        </p:blipFill>
        <p:spPr>
          <a:xfrm>
            <a:off x="11030923" y="31775400"/>
            <a:ext cx="8204793" cy="5760720"/>
          </a:xfrm>
          <a:prstGeom prst="rect">
            <a:avLst/>
          </a:prstGeom>
          <a:ln>
            <a:noFill/>
          </a:ln>
          <a:effectLst>
            <a:outerShdw blurRad="292100" dist="139700" dir="2700000" algn="tl" rotWithShape="0">
              <a:srgbClr val="333333">
                <a:alpha val="65000"/>
              </a:srgbClr>
            </a:outerShdw>
          </a:effectLst>
        </p:spPr>
      </p:pic>
      <p:sp>
        <p:nvSpPr>
          <p:cNvPr id="82" name="TextBox 81"/>
          <p:cNvSpPr txBox="1"/>
          <p:nvPr/>
        </p:nvSpPr>
        <p:spPr>
          <a:xfrm>
            <a:off x="10728960" y="37764720"/>
            <a:ext cx="8808720" cy="2377440"/>
          </a:xfrm>
          <a:prstGeom prst="rect">
            <a:avLst/>
          </a:prstGeom>
          <a:noFill/>
        </p:spPr>
        <p:txBody>
          <a:bodyPr wrap="square" lIns="0" tIns="0" rIns="0" bIns="0" anchor="t">
            <a:spAutoFit/>
          </a:bodyPr>
          <a:lstStyle/>
          <a:p>
            <a:pPr algn="l">
              <a:lnSpc>
                <a:spcPct val="108000"/>
              </a:lnSpc>
            </a:pPr>
            <a:r>
              <a:rPr sz="2200" b="0" i="1">
                <a:solidFill>
                  <a:srgbClr val="555B55"/>
                </a:solidFill>
                <a:latin typeface="Calibri"/>
              </a:rPr>
              <a:t>A surrogate reproduces the vendor's risk levels at 88% accuracy from scores alone — enough to check a closed model behind a zero-knowledge proof. Proof times are from the ZK literature, not measured here.</a:t>
            </a:r>
          </a:p>
        </p:txBody>
      </p:sp>
      <p:sp>
        <p:nvSpPr>
          <p:cNvPr id="83" name="Rounded Rectangle 82"/>
          <p:cNvSpPr/>
          <p:nvPr/>
        </p:nvSpPr>
        <p:spPr>
          <a:xfrm>
            <a:off x="20269200" y="9966960"/>
            <a:ext cx="8808720" cy="1371600"/>
          </a:xfrm>
          <a:prstGeom prst="round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ounded Rectangle 83"/>
          <p:cNvSpPr/>
          <p:nvPr/>
        </p:nvSpPr>
        <p:spPr>
          <a:xfrm>
            <a:off x="20525232" y="10195560"/>
            <a:ext cx="914400" cy="914400"/>
          </a:xfrm>
          <a:prstGeom prst="round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0525232" y="10195560"/>
            <a:ext cx="914400" cy="914400"/>
          </a:xfrm>
          <a:prstGeom prst="rect">
            <a:avLst/>
          </a:prstGeom>
          <a:noFill/>
        </p:spPr>
        <p:txBody>
          <a:bodyPr wrap="square" lIns="0" tIns="0" rIns="0" bIns="0" anchor="ctr">
            <a:spAutoFit/>
          </a:bodyPr>
          <a:lstStyle/>
          <a:p>
            <a:pPr algn="ctr">
              <a:lnSpc>
                <a:spcPct val="105000"/>
              </a:lnSpc>
            </a:pPr>
            <a:r>
              <a:rPr sz="4000" b="1" i="0">
                <a:solidFill>
                  <a:srgbClr val="1E331E"/>
                </a:solidFill>
                <a:latin typeface="Calibri"/>
              </a:rPr>
              <a:t>5</a:t>
            </a:r>
          </a:p>
        </p:txBody>
      </p:sp>
      <p:sp>
        <p:nvSpPr>
          <p:cNvPr id="86" name="TextBox 85"/>
          <p:cNvSpPr txBox="1"/>
          <p:nvPr/>
        </p:nvSpPr>
        <p:spPr>
          <a:xfrm>
            <a:off x="21732240" y="9966960"/>
            <a:ext cx="7162800" cy="1371600"/>
          </a:xfrm>
          <a:prstGeom prst="rect">
            <a:avLst/>
          </a:prstGeom>
          <a:noFill/>
        </p:spPr>
        <p:txBody>
          <a:bodyPr wrap="square" lIns="0" tIns="0" rIns="0" bIns="0" anchor="ctr">
            <a:spAutoFit/>
          </a:bodyPr>
          <a:lstStyle/>
          <a:p>
            <a:pPr algn="l">
              <a:lnSpc>
                <a:spcPct val="105000"/>
              </a:lnSpc>
            </a:pPr>
            <a:r>
              <a:rPr sz="4200" b="1" i="0">
                <a:solidFill>
                  <a:srgbClr val="FFFFFF"/>
                </a:solidFill>
                <a:latin typeface="Calibri"/>
              </a:rPr>
              <a:t>Results — RQ4 &amp; RQ5</a:t>
            </a:r>
          </a:p>
        </p:txBody>
      </p:sp>
      <p:sp>
        <p:nvSpPr>
          <p:cNvPr id="87" name="TextBox 86"/>
          <p:cNvSpPr txBox="1"/>
          <p:nvPr/>
        </p:nvSpPr>
        <p:spPr>
          <a:xfrm>
            <a:off x="20269200" y="11658600"/>
            <a:ext cx="8808720" cy="822960"/>
          </a:xfrm>
          <a:prstGeom prst="rect">
            <a:avLst/>
          </a:prstGeom>
          <a:noFill/>
        </p:spPr>
        <p:txBody>
          <a:bodyPr wrap="square" lIns="0" tIns="0" rIns="0" bIns="0" anchor="t">
            <a:spAutoFit/>
          </a:bodyPr>
          <a:lstStyle/>
          <a:p>
            <a:pPr algn="l">
              <a:lnSpc>
                <a:spcPct val="105000"/>
              </a:lnSpc>
            </a:pPr>
            <a:r>
              <a:rPr sz="3000" b="1" i="0">
                <a:solidFill>
                  <a:srgbClr val="2C5F2D"/>
                </a:solidFill>
                <a:latin typeface="Calibri"/>
              </a:rPr>
              <a:t>RQ4 · Sector bias real, size bias not</a:t>
            </a:r>
          </a:p>
        </p:txBody>
      </p:sp>
      <p:pic>
        <p:nvPicPr>
          <p:cNvPr id="88" name="Picture 87" descr="fig4_rq4_sector_size_fairness.png"/>
          <p:cNvPicPr>
            <a:picLocks noChangeAspect="1"/>
          </p:cNvPicPr>
          <p:nvPr/>
        </p:nvPicPr>
        <p:blipFill>
          <a:blip r:embed="rId5"/>
          <a:stretch>
            <a:fillRect/>
          </a:stretch>
        </p:blipFill>
        <p:spPr>
          <a:xfrm>
            <a:off x="20269200" y="12984731"/>
            <a:ext cx="8808720" cy="5394456"/>
          </a:xfrm>
          <a:prstGeom prst="rect">
            <a:avLst/>
          </a:prstGeom>
          <a:ln>
            <a:noFill/>
          </a:ln>
          <a:effectLst>
            <a:outerShdw blurRad="292100" dist="139700" dir="2700000" algn="tl" rotWithShape="0">
              <a:srgbClr val="333333">
                <a:alpha val="65000"/>
              </a:srgbClr>
            </a:outerShdw>
          </a:effectLst>
        </p:spPr>
      </p:pic>
      <p:sp>
        <p:nvSpPr>
          <p:cNvPr id="89" name="TextBox 88"/>
          <p:cNvSpPr txBox="1"/>
          <p:nvPr/>
        </p:nvSpPr>
        <p:spPr>
          <a:xfrm>
            <a:off x="20269200" y="19019520"/>
            <a:ext cx="8808720" cy="2377440"/>
          </a:xfrm>
          <a:prstGeom prst="rect">
            <a:avLst/>
          </a:prstGeom>
          <a:noFill/>
        </p:spPr>
        <p:txBody>
          <a:bodyPr wrap="square" lIns="0" tIns="0" rIns="0" bIns="0" anchor="t">
            <a:spAutoFit/>
          </a:bodyPr>
          <a:lstStyle/>
          <a:p>
            <a:pPr algn="l">
              <a:lnSpc>
                <a:spcPct val="108000"/>
              </a:lnSpc>
            </a:pPr>
            <a:r>
              <a:rPr sz="2200" b="0" i="1">
                <a:solidFill>
                  <a:srgbClr val="555B55"/>
                </a:solidFill>
                <a:latin typeface="Calibri"/>
              </a:rPr>
              <a:t>Energy and Utilities firms almost never reach the low-risk band (disparate-impact ratio near 0.05 — well below the 0.8 line). Split by headcount and there is no disparate impact: small, mid and large firms fare about the same. The unfairness is sectoral, not about size.</a:t>
            </a:r>
          </a:p>
        </p:txBody>
      </p:sp>
      <p:sp>
        <p:nvSpPr>
          <p:cNvPr id="90" name="TextBox 89"/>
          <p:cNvSpPr txBox="1"/>
          <p:nvPr/>
        </p:nvSpPr>
        <p:spPr>
          <a:xfrm>
            <a:off x="20269200" y="21671280"/>
            <a:ext cx="8808720" cy="822960"/>
          </a:xfrm>
          <a:prstGeom prst="rect">
            <a:avLst/>
          </a:prstGeom>
          <a:noFill/>
        </p:spPr>
        <p:txBody>
          <a:bodyPr wrap="square" lIns="0" tIns="0" rIns="0" bIns="0" anchor="t">
            <a:spAutoFit/>
          </a:bodyPr>
          <a:lstStyle/>
          <a:p>
            <a:pPr algn="l">
              <a:lnSpc>
                <a:spcPct val="105000"/>
              </a:lnSpc>
            </a:pPr>
            <a:r>
              <a:rPr sz="3000" b="1" i="0">
                <a:solidFill>
                  <a:srgbClr val="2C5F2D"/>
                </a:solidFill>
                <a:latin typeface="Calibri"/>
              </a:rPr>
              <a:t>RQ5 · Holds up, until it doesn't</a:t>
            </a:r>
          </a:p>
        </p:txBody>
      </p:sp>
      <p:pic>
        <p:nvPicPr>
          <p:cNvPr id="91" name="Picture 90" descr="fig5_rq5_distribution_shift.png"/>
          <p:cNvPicPr>
            <a:picLocks noChangeAspect="1"/>
          </p:cNvPicPr>
          <p:nvPr/>
        </p:nvPicPr>
        <p:blipFill>
          <a:blip r:embed="rId6"/>
          <a:stretch>
            <a:fillRect/>
          </a:stretch>
        </p:blipFill>
        <p:spPr>
          <a:xfrm>
            <a:off x="20269200" y="23052793"/>
            <a:ext cx="8808720" cy="5283692"/>
          </a:xfrm>
          <a:prstGeom prst="rect">
            <a:avLst/>
          </a:prstGeom>
          <a:ln>
            <a:noFill/>
          </a:ln>
          <a:effectLst>
            <a:outerShdw blurRad="292100" dist="139700" dir="2700000" algn="tl" rotWithShape="0">
              <a:srgbClr val="333333">
                <a:alpha val="65000"/>
              </a:srgbClr>
            </a:outerShdw>
          </a:effectLst>
        </p:spPr>
      </p:pic>
      <p:sp>
        <p:nvSpPr>
          <p:cNvPr id="92" name="TextBox 91"/>
          <p:cNvSpPr txBox="1"/>
          <p:nvPr/>
        </p:nvSpPr>
        <p:spPr>
          <a:xfrm>
            <a:off x="20269200" y="29032200"/>
            <a:ext cx="8808720" cy="2377440"/>
          </a:xfrm>
          <a:prstGeom prst="rect">
            <a:avLst/>
          </a:prstGeom>
          <a:noFill/>
        </p:spPr>
        <p:txBody>
          <a:bodyPr wrap="square" lIns="0" tIns="0" rIns="0" bIns="0" anchor="t">
            <a:spAutoFit/>
          </a:bodyPr>
          <a:lstStyle/>
          <a:p>
            <a:pPr algn="l">
              <a:lnSpc>
                <a:spcPct val="108000"/>
              </a:lnSpc>
            </a:pPr>
            <a:r>
              <a:rPr sz="2200" b="0" i="1">
                <a:solidFill>
                  <a:srgbClr val="555B55"/>
                </a:solidFill>
                <a:latin typeface="Calibri"/>
              </a:rPr>
              <a:t>Trained on every sector but one, the model usually transfers fine. Hold out Financial Services or Real Estate, though, and elevated-risk detection collapses to zero F1. Stable on average, broken on a whole slice of the market.</a:t>
            </a:r>
          </a:p>
        </p:txBody>
      </p:sp>
      <p:sp>
        <p:nvSpPr>
          <p:cNvPr id="93" name="Rounded Rectangle 92"/>
          <p:cNvSpPr/>
          <p:nvPr/>
        </p:nvSpPr>
        <p:spPr>
          <a:xfrm>
            <a:off x="20269200" y="31683960"/>
            <a:ext cx="8808720" cy="1371600"/>
          </a:xfrm>
          <a:prstGeom prst="round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ounded Rectangle 93"/>
          <p:cNvSpPr/>
          <p:nvPr/>
        </p:nvSpPr>
        <p:spPr>
          <a:xfrm>
            <a:off x="20525232" y="31912560"/>
            <a:ext cx="914400" cy="914400"/>
          </a:xfrm>
          <a:prstGeom prst="roundRect">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20525232" y="31912560"/>
            <a:ext cx="914400" cy="914400"/>
          </a:xfrm>
          <a:prstGeom prst="rect">
            <a:avLst/>
          </a:prstGeom>
          <a:noFill/>
        </p:spPr>
        <p:txBody>
          <a:bodyPr wrap="square" lIns="0" tIns="0" rIns="0" bIns="0" anchor="ctr">
            <a:spAutoFit/>
          </a:bodyPr>
          <a:lstStyle/>
          <a:p>
            <a:pPr algn="ctr">
              <a:lnSpc>
                <a:spcPct val="105000"/>
              </a:lnSpc>
            </a:pPr>
            <a:r>
              <a:rPr sz="4000" b="1" i="0">
                <a:solidFill>
                  <a:srgbClr val="1E331E"/>
                </a:solidFill>
                <a:latin typeface="Calibri"/>
              </a:rPr>
              <a:t>7</a:t>
            </a:r>
          </a:p>
        </p:txBody>
      </p:sp>
      <p:sp>
        <p:nvSpPr>
          <p:cNvPr id="96" name="TextBox 95"/>
          <p:cNvSpPr txBox="1"/>
          <p:nvPr/>
        </p:nvSpPr>
        <p:spPr>
          <a:xfrm>
            <a:off x="21732240" y="31683960"/>
            <a:ext cx="7162800" cy="1371600"/>
          </a:xfrm>
          <a:prstGeom prst="rect">
            <a:avLst/>
          </a:prstGeom>
          <a:noFill/>
        </p:spPr>
        <p:txBody>
          <a:bodyPr wrap="square" lIns="0" tIns="0" rIns="0" bIns="0" anchor="ctr">
            <a:spAutoFit/>
          </a:bodyPr>
          <a:lstStyle/>
          <a:p>
            <a:pPr algn="l">
              <a:lnSpc>
                <a:spcPct val="105000"/>
              </a:lnSpc>
            </a:pPr>
            <a:r>
              <a:rPr sz="4200" b="1" i="0">
                <a:solidFill>
                  <a:srgbClr val="FFFFFF"/>
                </a:solidFill>
                <a:latin typeface="Calibri"/>
              </a:rPr>
              <a:t>Takeaway</a:t>
            </a:r>
          </a:p>
        </p:txBody>
      </p:sp>
      <p:sp>
        <p:nvSpPr>
          <p:cNvPr id="97" name="Rounded Rectangle 96"/>
          <p:cNvSpPr/>
          <p:nvPr/>
        </p:nvSpPr>
        <p:spPr>
          <a:xfrm>
            <a:off x="20269200" y="33375600"/>
            <a:ext cx="8808720" cy="4572000"/>
          </a:xfrm>
          <a:prstGeom prst="round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20726400" y="33787080"/>
            <a:ext cx="7894320" cy="3383280"/>
          </a:xfrm>
          <a:prstGeom prst="rect">
            <a:avLst/>
          </a:prstGeom>
          <a:noFill/>
        </p:spPr>
        <p:txBody>
          <a:bodyPr wrap="square" lIns="0" tIns="0" rIns="0" bIns="0" anchor="t">
            <a:spAutoFit/>
          </a:bodyPr>
          <a:lstStyle/>
          <a:p>
            <a:pPr algn="l">
              <a:lnSpc>
                <a:spcPct val="112000"/>
              </a:lnSpc>
            </a:pPr>
            <a:r>
              <a:rPr sz="2800" b="0" i="0">
                <a:solidFill>
                  <a:srgbClr val="FFFFFF"/>
                </a:solidFill>
                <a:latin typeface="Calibri"/>
              </a:rPr>
              <a:t>AI-based ESG scores are useful but fragile. Within one rater the dimensions disagree, the text models can be gamed by greenwashing, whole sectors get penalised, and performance can vanish on firms the model hasn't seen enough of.</a:t>
            </a:r>
          </a:p>
          <a:p>
            <a:pPr algn="l">
              <a:lnSpc>
                <a:spcPct val="112000"/>
              </a:lnSpc>
            </a:pPr>
            <a:r>
              <a:rPr sz="2800" b="0" i="1">
                <a:solidFill>
                  <a:srgbClr val="97BC62"/>
                </a:solidFill>
                <a:latin typeface="Calibri"/>
              </a:rPr>
              <a:t>Before scores like these steer real capital, they need the same routine auditing we expect of any high-stakes model.</a:t>
            </a:r>
          </a:p>
        </p:txBody>
      </p:sp>
      <p:sp>
        <p:nvSpPr>
          <p:cNvPr id="99" name="TextBox 98"/>
          <p:cNvSpPr txBox="1"/>
          <p:nvPr/>
        </p:nvSpPr>
        <p:spPr>
          <a:xfrm>
            <a:off x="20269200" y="38221920"/>
            <a:ext cx="8808720" cy="914400"/>
          </a:xfrm>
          <a:prstGeom prst="rect">
            <a:avLst/>
          </a:prstGeom>
          <a:noFill/>
        </p:spPr>
        <p:txBody>
          <a:bodyPr wrap="square" lIns="0" tIns="0" rIns="0" bIns="0" anchor="t">
            <a:spAutoFit/>
          </a:bodyPr>
          <a:lstStyle/>
          <a:p>
            <a:pPr algn="l">
              <a:lnSpc>
                <a:spcPct val="100000"/>
              </a:lnSpc>
            </a:pPr>
            <a:r>
              <a:rPr sz="2100" b="0" i="1">
                <a:solidFill>
                  <a:srgbClr val="555B55"/>
                </a:solidFill>
                <a:latin typeface="Calibri"/>
              </a:rPr>
              <a:t>Keywords: ESG · explainability · robustness · fairness · greenwashing · AI governance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Custom</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24</cp:revision>
  <dcterms:created xsi:type="dcterms:W3CDTF">2013-01-27T09:14:16Z</dcterms:created>
  <dcterms:modified xsi:type="dcterms:W3CDTF">2026-06-05T09:26:04Z</dcterms:modified>
  <cp:category/>
</cp:coreProperties>
</file>